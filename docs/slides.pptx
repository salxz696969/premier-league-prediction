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Manchester City</c:v>
                </c:pt>
              </c:strCache>
            </c:strRef>
          </c:tx>
          <c:spPr>
            <a:solidFill>
              <a:srgbClr val="2A78D6"/>
            </a:solidFill>
            <a:ln w="28575" cap="flat">
              <a:solidFill>
                <a:srgbClr val="2A78D6"/>
              </a:solidFill>
              <a:prstDash val="solid,solid,solid,solid,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5"/>
            <c:spPr>
              <a:solidFill>
                <a:srgbClr val="2A78D6"/>
              </a:solidFill>
              <a:ln w="9525" cap="flat">
                <a:solidFill>
                  <a:srgbClr val="2A78D6"/>
                </a:solidFill>
                <a:prstDash val="solid"/>
                <a:round/>
              </a:ln>
              <a:effectLst/>
            </c:spPr>
          </c:marker>
          <c:cat>
            <c:multiLvlStrRef>
              <c:f>Sheet1!$A$2:$A$26</c:f>
              <c:multiLvlStrCache>
                <c:ptCount val="25"/>
                <c:lvl>
                  <c:pt idx="0">
                    <c:v>01-02</c:v>
                  </c:pt>
                  <c:pt idx="1">
                    <c:v>02-03</c:v>
                  </c:pt>
                  <c:pt idx="2">
                    <c:v>03-04</c:v>
                  </c:pt>
                  <c:pt idx="3">
                    <c:v>04-05</c:v>
                  </c:pt>
                  <c:pt idx="4">
                    <c:v>05-06</c:v>
                  </c:pt>
                  <c:pt idx="5">
                    <c:v>06-07</c:v>
                  </c:pt>
                  <c:pt idx="6">
                    <c:v>07-08</c:v>
                  </c:pt>
                  <c:pt idx="7">
                    <c:v>08-09</c:v>
                  </c:pt>
                  <c:pt idx="8">
                    <c:v>09-10</c:v>
                  </c:pt>
                  <c:pt idx="9">
                    <c:v>10-11</c:v>
                  </c:pt>
                  <c:pt idx="10">
                    <c:v>11-12</c:v>
                  </c:pt>
                  <c:pt idx="11">
                    <c:v>12-13</c:v>
                  </c:pt>
                  <c:pt idx="12">
                    <c:v>13-14</c:v>
                  </c:pt>
                  <c:pt idx="13">
                    <c:v>14-15</c:v>
                  </c:pt>
                  <c:pt idx="14">
                    <c:v>15-16</c:v>
                  </c:pt>
                  <c:pt idx="15">
                    <c:v>16-17</c:v>
                  </c:pt>
                  <c:pt idx="16">
                    <c:v>17-18</c:v>
                  </c:pt>
                  <c:pt idx="17">
                    <c:v>18-19</c:v>
                  </c:pt>
                  <c:pt idx="18">
                    <c:v>19-20</c:v>
                  </c:pt>
                  <c:pt idx="19">
                    <c:v>20-21</c:v>
                  </c:pt>
                  <c:pt idx="20">
                    <c:v>21-22</c:v>
                  </c:pt>
                  <c:pt idx="21">
                    <c:v>22-23</c:v>
                  </c:pt>
                  <c:pt idx="22">
                    <c:v>23-24</c:v>
                  </c:pt>
                  <c:pt idx="23">
                    <c:v>24-25</c:v>
                  </c:pt>
                  <c:pt idx="24">
                    <c:v>25-26</c:v>
                  </c:pt>
                </c:lvl>
              </c:multiLvlStrCache>
            </c:multiLvlStrRef>
          </c:cat>
          <c:val>
            <c:numRef>
              <c:f>Sheet1!$B$2:$B$26</c:f>
              <c:numCache>
                <c:formatCode>General</c:formatCode>
                <c:ptCount val="25"/>
                <c:pt idx="0">
                  <c:v/>
                </c:pt>
                <c:pt idx="1">
                  <c:v>1457</c:v>
                </c:pt>
                <c:pt idx="2">
                  <c:v>1450</c:v>
                </c:pt>
                <c:pt idx="3">
                  <c:v>1491</c:v>
                </c:pt>
                <c:pt idx="4">
                  <c:v>1459</c:v>
                </c:pt>
                <c:pt idx="5">
                  <c:v>1438</c:v>
                </c:pt>
                <c:pt idx="6">
                  <c:v>1464</c:v>
                </c:pt>
                <c:pt idx="7">
                  <c:v>1460</c:v>
                </c:pt>
                <c:pt idx="8">
                  <c:v>1530</c:v>
                </c:pt>
                <c:pt idx="9">
                  <c:v>1552</c:v>
                </c:pt>
                <c:pt idx="10">
                  <c:v>1631</c:v>
                </c:pt>
                <c:pt idx="11">
                  <c:v>1624</c:v>
                </c:pt>
                <c:pt idx="12">
                  <c:v>1653</c:v>
                </c:pt>
                <c:pt idx="13">
                  <c:v>1633</c:v>
                </c:pt>
                <c:pt idx="14">
                  <c:v>1578</c:v>
                </c:pt>
                <c:pt idx="15">
                  <c:v>1587</c:v>
                </c:pt>
                <c:pt idx="16">
                  <c:v>1665</c:v>
                </c:pt>
                <c:pt idx="17">
                  <c:v>1687</c:v>
                </c:pt>
                <c:pt idx="18">
                  <c:v>1649</c:v>
                </c:pt>
                <c:pt idx="19">
                  <c:v>1636</c:v>
                </c:pt>
                <c:pt idx="20">
                  <c:v>1658</c:v>
                </c:pt>
                <c:pt idx="21">
                  <c:v>1664</c:v>
                </c:pt>
                <c:pt idx="22">
                  <c:v>1662</c:v>
                </c:pt>
                <c:pt idx="23">
                  <c:v>1589</c:v>
                </c:pt>
                <c:pt idx="24">
                  <c:v>1592</c:v>
                </c:pt>
              </c:numCache>
            </c:numRef>
          </c:val>
          <c:smooth val="0"/>
        </c:ser>
        <c:ser>
          <c:idx val="1"/>
          <c:order val="1"/>
          <c:tx>
            <c:strRef>
              <c:f>Sheet1!$C$1</c:f>
              <c:strCache>
                <c:ptCount val="1"/>
                <c:pt idx="0">
                  <c:v>Liverpool</c:v>
                </c:pt>
              </c:strCache>
            </c:strRef>
          </c:tx>
          <c:spPr>
            <a:solidFill>
              <a:srgbClr val="D12F2F"/>
            </a:solidFill>
            <a:ln w="28575" cap="flat">
              <a:solidFill>
                <a:srgbClr val="D12F2F"/>
              </a:solidFill>
              <a:prstDash val="solid,solid,solid,solid,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5"/>
            <c:spPr>
              <a:solidFill>
                <a:srgbClr val="D12F2F"/>
              </a:solidFill>
              <a:ln w="9525" cap="flat">
                <a:solidFill>
                  <a:srgbClr val="D12F2F"/>
                </a:solidFill>
                <a:prstDash val="solid"/>
                <a:round/>
              </a:ln>
              <a:effectLst/>
            </c:spPr>
          </c:marker>
          <c:cat>
            <c:multiLvlStrRef>
              <c:f>Sheet1!$A$2:$A$26</c:f>
              <c:multiLvlStrCache>
                <c:ptCount val="25"/>
                <c:lvl>
                  <c:pt idx="0">
                    <c:v>01-02</c:v>
                  </c:pt>
                  <c:pt idx="1">
                    <c:v>02-03</c:v>
                  </c:pt>
                  <c:pt idx="2">
                    <c:v>03-04</c:v>
                  </c:pt>
                  <c:pt idx="3">
                    <c:v>04-05</c:v>
                  </c:pt>
                  <c:pt idx="4">
                    <c:v>05-06</c:v>
                  </c:pt>
                  <c:pt idx="5">
                    <c:v>06-07</c:v>
                  </c:pt>
                  <c:pt idx="6">
                    <c:v>07-08</c:v>
                  </c:pt>
                  <c:pt idx="7">
                    <c:v>08-09</c:v>
                  </c:pt>
                  <c:pt idx="8">
                    <c:v>09-10</c:v>
                  </c:pt>
                  <c:pt idx="9">
                    <c:v>10-11</c:v>
                  </c:pt>
                  <c:pt idx="10">
                    <c:v>11-12</c:v>
                  </c:pt>
                  <c:pt idx="11">
                    <c:v>12-13</c:v>
                  </c:pt>
                  <c:pt idx="12">
                    <c:v>13-14</c:v>
                  </c:pt>
                  <c:pt idx="13">
                    <c:v>14-15</c:v>
                  </c:pt>
                  <c:pt idx="14">
                    <c:v>15-16</c:v>
                  </c:pt>
                  <c:pt idx="15">
                    <c:v>16-17</c:v>
                  </c:pt>
                  <c:pt idx="16">
                    <c:v>17-18</c:v>
                  </c:pt>
                  <c:pt idx="17">
                    <c:v>18-19</c:v>
                  </c:pt>
                  <c:pt idx="18">
                    <c:v>19-20</c:v>
                  </c:pt>
                  <c:pt idx="19">
                    <c:v>20-21</c:v>
                  </c:pt>
                  <c:pt idx="20">
                    <c:v>21-22</c:v>
                  </c:pt>
                  <c:pt idx="21">
                    <c:v>22-23</c:v>
                  </c:pt>
                  <c:pt idx="22">
                    <c:v>23-24</c:v>
                  </c:pt>
                  <c:pt idx="23">
                    <c:v>24-25</c:v>
                  </c:pt>
                  <c:pt idx="24">
                    <c:v>25-26</c:v>
                  </c:pt>
                </c:lvl>
              </c:multiLvlStrCache>
            </c:multiLvlStrRef>
          </c:cat>
          <c:val>
            <c:numRef>
              <c:f>Sheet1!$C$2:$C$26</c:f>
              <c:numCache>
                <c:formatCode>General</c:formatCode>
                <c:ptCount val="25"/>
                <c:pt idx="0">
                  <c:v>1621</c:v>
                </c:pt>
                <c:pt idx="1">
                  <c:v>1598</c:v>
                </c:pt>
                <c:pt idx="2">
                  <c:v>1578</c:v>
                </c:pt>
                <c:pt idx="3">
                  <c:v>1538</c:v>
                </c:pt>
                <c:pt idx="4">
                  <c:v>1600</c:v>
                </c:pt>
                <c:pt idx="5">
                  <c:v>1599</c:v>
                </c:pt>
                <c:pt idx="6">
                  <c:v>1612</c:v>
                </c:pt>
                <c:pt idx="7">
                  <c:v>1657</c:v>
                </c:pt>
                <c:pt idx="8">
                  <c:v>1596</c:v>
                </c:pt>
                <c:pt idx="9">
                  <c:v>1556</c:v>
                </c:pt>
                <c:pt idx="10">
                  <c:v>1517</c:v>
                </c:pt>
                <c:pt idx="11">
                  <c:v>1527</c:v>
                </c:pt>
                <c:pt idx="12">
                  <c:v>1600</c:v>
                </c:pt>
                <c:pt idx="13">
                  <c:v>1554</c:v>
                </c:pt>
                <c:pt idx="14">
                  <c:v>1522</c:v>
                </c:pt>
                <c:pt idx="15">
                  <c:v>1555</c:v>
                </c:pt>
                <c:pt idx="16">
                  <c:v>1579</c:v>
                </c:pt>
                <c:pt idx="17">
                  <c:v>1648</c:v>
                </c:pt>
                <c:pt idx="18">
                  <c:v>1661</c:v>
                </c:pt>
                <c:pt idx="19">
                  <c:v>1595</c:v>
                </c:pt>
                <c:pt idx="20">
                  <c:v>1643</c:v>
                </c:pt>
                <c:pt idx="21">
                  <c:v>1580</c:v>
                </c:pt>
                <c:pt idx="22">
                  <c:v>1586</c:v>
                </c:pt>
                <c:pt idx="23">
                  <c:v>1603</c:v>
                </c:pt>
                <c:pt idx="24">
                  <c:v>1524</c:v>
                </c:pt>
              </c:numCache>
            </c:numRef>
          </c:val>
          <c:smooth val="0"/>
        </c:ser>
        <c:ser>
          <c:idx val="2"/>
          <c:order val="2"/>
          <c:tx>
            <c:strRef>
              <c:f>Sheet1!$D$1</c:f>
              <c:strCache>
                <c:ptCount val="1"/>
                <c:pt idx="0">
                  <c:v>Arsenal</c:v>
                </c:pt>
              </c:strCache>
            </c:strRef>
          </c:tx>
          <c:spPr>
            <a:solidFill>
              <a:srgbClr val="1BAF7A"/>
            </a:solidFill>
            <a:ln w="28575" cap="flat">
              <a:solidFill>
                <a:srgbClr val="1BAF7A"/>
              </a:solidFill>
              <a:prstDash val="solid,solid,solid,solid,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5"/>
            <c:spPr>
              <a:solidFill>
                <a:srgbClr val="1BAF7A"/>
              </a:solidFill>
              <a:ln w="9525" cap="flat">
                <a:solidFill>
                  <a:srgbClr val="1BAF7A"/>
                </a:solidFill>
                <a:prstDash val="solid"/>
                <a:round/>
              </a:ln>
              <a:effectLst/>
            </c:spPr>
          </c:marker>
          <c:cat>
            <c:multiLvlStrRef>
              <c:f>Sheet1!$A$2:$A$26</c:f>
              <c:multiLvlStrCache>
                <c:ptCount val="25"/>
                <c:lvl>
                  <c:pt idx="0">
                    <c:v>01-02</c:v>
                  </c:pt>
                  <c:pt idx="1">
                    <c:v>02-03</c:v>
                  </c:pt>
                  <c:pt idx="2">
                    <c:v>03-04</c:v>
                  </c:pt>
                  <c:pt idx="3">
                    <c:v>04-05</c:v>
                  </c:pt>
                  <c:pt idx="4">
                    <c:v>05-06</c:v>
                  </c:pt>
                  <c:pt idx="5">
                    <c:v>06-07</c:v>
                  </c:pt>
                  <c:pt idx="6">
                    <c:v>07-08</c:v>
                  </c:pt>
                  <c:pt idx="7">
                    <c:v>08-09</c:v>
                  </c:pt>
                  <c:pt idx="8">
                    <c:v>09-10</c:v>
                  </c:pt>
                  <c:pt idx="9">
                    <c:v>10-11</c:v>
                  </c:pt>
                  <c:pt idx="10">
                    <c:v>11-12</c:v>
                  </c:pt>
                  <c:pt idx="11">
                    <c:v>12-13</c:v>
                  </c:pt>
                  <c:pt idx="12">
                    <c:v>13-14</c:v>
                  </c:pt>
                  <c:pt idx="13">
                    <c:v>14-15</c:v>
                  </c:pt>
                  <c:pt idx="14">
                    <c:v>15-16</c:v>
                  </c:pt>
                  <c:pt idx="15">
                    <c:v>16-17</c:v>
                  </c:pt>
                  <c:pt idx="16">
                    <c:v>17-18</c:v>
                  </c:pt>
                  <c:pt idx="17">
                    <c:v>18-19</c:v>
                  </c:pt>
                  <c:pt idx="18">
                    <c:v>19-20</c:v>
                  </c:pt>
                  <c:pt idx="19">
                    <c:v>20-21</c:v>
                  </c:pt>
                  <c:pt idx="20">
                    <c:v>21-22</c:v>
                  </c:pt>
                  <c:pt idx="21">
                    <c:v>22-23</c:v>
                  </c:pt>
                  <c:pt idx="22">
                    <c:v>23-24</c:v>
                  </c:pt>
                  <c:pt idx="23">
                    <c:v>24-25</c:v>
                  </c:pt>
                  <c:pt idx="24">
                    <c:v>25-26</c:v>
                  </c:pt>
                </c:lvl>
              </c:multiLvlStrCache>
            </c:multiLvlStrRef>
          </c:cat>
          <c:val>
            <c:numRef>
              <c:f>Sheet1!$D$2:$D$26</c:f>
              <c:numCache>
                <c:formatCode>General</c:formatCode>
                <c:ptCount val="25"/>
                <c:pt idx="0">
                  <c:v>1639</c:v>
                </c:pt>
                <c:pt idx="1">
                  <c:v>1644</c:v>
                </c:pt>
                <c:pt idx="2">
                  <c:v>1683</c:v>
                </c:pt>
                <c:pt idx="3">
                  <c:v>1684</c:v>
                </c:pt>
                <c:pt idx="4">
                  <c:v>1626</c:v>
                </c:pt>
                <c:pt idx="5">
                  <c:v>1607</c:v>
                </c:pt>
                <c:pt idx="6">
                  <c:v>1636</c:v>
                </c:pt>
                <c:pt idx="7">
                  <c:v>1619</c:v>
                </c:pt>
                <c:pt idx="8">
                  <c:v>1607</c:v>
                </c:pt>
                <c:pt idx="9">
                  <c:v>1590</c:v>
                </c:pt>
                <c:pt idx="10">
                  <c:v>1577</c:v>
                </c:pt>
                <c:pt idx="11">
                  <c:v>1587</c:v>
                </c:pt>
                <c:pt idx="12">
                  <c:v>1590</c:v>
                </c:pt>
                <c:pt idx="13">
                  <c:v>1598</c:v>
                </c:pt>
                <c:pt idx="14">
                  <c:v>1581</c:v>
                </c:pt>
                <c:pt idx="15">
                  <c:v>1575</c:v>
                </c:pt>
                <c:pt idx="16">
                  <c:v>1533</c:v>
                </c:pt>
                <c:pt idx="17">
                  <c:v>1529</c:v>
                </c:pt>
                <c:pt idx="18">
                  <c:v>1504</c:v>
                </c:pt>
                <c:pt idx="19">
                  <c:v>1502</c:v>
                </c:pt>
                <c:pt idx="20">
                  <c:v>1501</c:v>
                </c:pt>
                <c:pt idx="21">
                  <c:v>1551</c:v>
                </c:pt>
                <c:pt idx="22">
                  <c:v>1600</c:v>
                </c:pt>
                <c:pt idx="23">
                  <c:v>1582</c:v>
                </c:pt>
                <c:pt idx="24">
                  <c:v>1590</c:v>
                </c:pt>
              </c:numCache>
            </c:numRef>
          </c:val>
          <c:smooth val="0"/>
        </c:ser>
        <c:ser>
          <c:idx val="3"/>
          <c:order val="3"/>
          <c:tx>
            <c:strRef>
              <c:f>Sheet1!$E$1</c:f>
              <c:strCache>
                <c:ptCount val="1"/>
                <c:pt idx="0">
                  <c:v>Chelsea</c:v>
                </c:pt>
              </c:strCache>
            </c:strRef>
          </c:tx>
          <c:spPr>
            <a:solidFill>
              <a:srgbClr val="4A3AA7"/>
            </a:solidFill>
            <a:ln w="28575" cap="flat">
              <a:solidFill>
                <a:srgbClr val="4A3AA7"/>
              </a:solidFill>
              <a:prstDash val="solid,solid,solid,solid,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5"/>
            <c:spPr>
              <a:solidFill>
                <a:srgbClr val="4A3AA7"/>
              </a:solidFill>
              <a:ln w="9525" cap="flat">
                <a:solidFill>
                  <a:srgbClr val="4A3AA7"/>
                </a:solidFill>
                <a:prstDash val="solid"/>
                <a:round/>
              </a:ln>
              <a:effectLst/>
            </c:spPr>
          </c:marker>
          <c:cat>
            <c:multiLvlStrRef>
              <c:f>Sheet1!$A$2:$A$26</c:f>
              <c:multiLvlStrCache>
                <c:ptCount val="25"/>
                <c:lvl>
                  <c:pt idx="0">
                    <c:v>01-02</c:v>
                  </c:pt>
                  <c:pt idx="1">
                    <c:v>02-03</c:v>
                  </c:pt>
                  <c:pt idx="2">
                    <c:v>03-04</c:v>
                  </c:pt>
                  <c:pt idx="3">
                    <c:v>04-05</c:v>
                  </c:pt>
                  <c:pt idx="4">
                    <c:v>05-06</c:v>
                  </c:pt>
                  <c:pt idx="5">
                    <c:v>06-07</c:v>
                  </c:pt>
                  <c:pt idx="6">
                    <c:v>07-08</c:v>
                  </c:pt>
                  <c:pt idx="7">
                    <c:v>08-09</c:v>
                  </c:pt>
                  <c:pt idx="8">
                    <c:v>09-10</c:v>
                  </c:pt>
                  <c:pt idx="9">
                    <c:v>10-11</c:v>
                  </c:pt>
                  <c:pt idx="10">
                    <c:v>11-12</c:v>
                  </c:pt>
                  <c:pt idx="11">
                    <c:v>12-13</c:v>
                  </c:pt>
                  <c:pt idx="12">
                    <c:v>13-14</c:v>
                  </c:pt>
                  <c:pt idx="13">
                    <c:v>14-15</c:v>
                  </c:pt>
                  <c:pt idx="14">
                    <c:v>15-16</c:v>
                  </c:pt>
                  <c:pt idx="15">
                    <c:v>16-17</c:v>
                  </c:pt>
                  <c:pt idx="16">
                    <c:v>17-18</c:v>
                  </c:pt>
                  <c:pt idx="17">
                    <c:v>18-19</c:v>
                  </c:pt>
                  <c:pt idx="18">
                    <c:v>19-20</c:v>
                  </c:pt>
                  <c:pt idx="19">
                    <c:v>20-21</c:v>
                  </c:pt>
                  <c:pt idx="20">
                    <c:v>21-22</c:v>
                  </c:pt>
                  <c:pt idx="21">
                    <c:v>22-23</c:v>
                  </c:pt>
                  <c:pt idx="22">
                    <c:v>23-24</c:v>
                  </c:pt>
                  <c:pt idx="23">
                    <c:v>24-25</c:v>
                  </c:pt>
                  <c:pt idx="24">
                    <c:v>25-26</c:v>
                  </c:pt>
                </c:lvl>
              </c:multiLvlStrCache>
            </c:multiLvlStrRef>
          </c:cat>
          <c:val>
            <c:numRef>
              <c:f>Sheet1!$E$2:$E$26</c:f>
              <c:numCache>
                <c:formatCode>General</c:formatCode>
                <c:ptCount val="25"/>
                <c:pt idx="0">
                  <c:v>1577</c:v>
                </c:pt>
                <c:pt idx="1">
                  <c:v>1578</c:v>
                </c:pt>
                <c:pt idx="2">
                  <c:v>1610</c:v>
                </c:pt>
                <c:pt idx="3">
                  <c:v>1685</c:v>
                </c:pt>
                <c:pt idx="4">
                  <c:v>1696</c:v>
                </c:pt>
                <c:pt idx="5">
                  <c:v>1678</c:v>
                </c:pt>
                <c:pt idx="6">
                  <c:v>1676</c:v>
                </c:pt>
                <c:pt idx="7">
                  <c:v>1666</c:v>
                </c:pt>
                <c:pt idx="8">
                  <c:v>1672</c:v>
                </c:pt>
                <c:pt idx="9">
                  <c:v>1630</c:v>
                </c:pt>
                <c:pt idx="10">
                  <c:v>1565</c:v>
                </c:pt>
                <c:pt idx="11">
                  <c:v>1585</c:v>
                </c:pt>
                <c:pt idx="12">
                  <c:v>1618</c:v>
                </c:pt>
                <c:pt idx="13">
                  <c:v>1632</c:v>
                </c:pt>
                <c:pt idx="14">
                  <c:v>1544</c:v>
                </c:pt>
                <c:pt idx="15">
                  <c:v>1614</c:v>
                </c:pt>
                <c:pt idx="16">
                  <c:v>1576</c:v>
                </c:pt>
                <c:pt idx="17">
                  <c:v>1552</c:v>
                </c:pt>
                <c:pt idx="18">
                  <c:v>1518</c:v>
                </c:pt>
                <c:pt idx="19">
                  <c:v>1529</c:v>
                </c:pt>
                <c:pt idx="20">
                  <c:v>1544</c:v>
                </c:pt>
                <c:pt idx="21">
                  <c:v>1449</c:v>
                </c:pt>
                <c:pt idx="22">
                  <c:v>1473</c:v>
                </c:pt>
                <c:pt idx="23">
                  <c:v>1490</c:v>
                </c:pt>
                <c:pt idx="24">
                  <c:v>1454</c:v>
                </c:pt>
              </c:numCache>
            </c:numRef>
          </c:val>
          <c:smooth val="0"/>
        </c:ser>
        <c:ser>
          <c:idx val="4"/>
          <c:order val="4"/>
          <c:tx>
            <c:strRef>
              <c:f>Sheet1!$F$1</c:f>
              <c:strCache>
                <c:ptCount val="1"/>
                <c:pt idx="0">
                  <c:v>Manchester United</c:v>
                </c:pt>
              </c:strCache>
            </c:strRef>
          </c:tx>
          <c:spPr>
            <a:solidFill>
              <a:srgbClr val="A8A7A1"/>
            </a:solidFill>
            <a:ln w="28575" cap="flat">
              <a:solidFill>
                <a:srgbClr val="A8A7A1"/>
              </a:solidFill>
              <a:prstDash val="solid,solid,solid,solid,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5"/>
            <c:spPr>
              <a:solidFill>
                <a:srgbClr val="A8A7A1"/>
              </a:solidFill>
              <a:ln w="9525" cap="flat">
                <a:solidFill>
                  <a:srgbClr val="A8A7A1"/>
                </a:solidFill>
                <a:prstDash val="solid"/>
                <a:round/>
              </a:ln>
              <a:effectLst/>
            </c:spPr>
          </c:marker>
          <c:cat>
            <c:multiLvlStrRef>
              <c:f>Sheet1!$A$2:$A$26</c:f>
              <c:multiLvlStrCache>
                <c:ptCount val="25"/>
                <c:lvl>
                  <c:pt idx="0">
                    <c:v>01-02</c:v>
                  </c:pt>
                  <c:pt idx="1">
                    <c:v>02-03</c:v>
                  </c:pt>
                  <c:pt idx="2">
                    <c:v>03-04</c:v>
                  </c:pt>
                  <c:pt idx="3">
                    <c:v>04-05</c:v>
                  </c:pt>
                  <c:pt idx="4">
                    <c:v>05-06</c:v>
                  </c:pt>
                  <c:pt idx="5">
                    <c:v>06-07</c:v>
                  </c:pt>
                  <c:pt idx="6">
                    <c:v>07-08</c:v>
                  </c:pt>
                  <c:pt idx="7">
                    <c:v>08-09</c:v>
                  </c:pt>
                  <c:pt idx="8">
                    <c:v>09-10</c:v>
                  </c:pt>
                  <c:pt idx="9">
                    <c:v>10-11</c:v>
                  </c:pt>
                  <c:pt idx="10">
                    <c:v>11-12</c:v>
                  </c:pt>
                  <c:pt idx="11">
                    <c:v>12-13</c:v>
                  </c:pt>
                  <c:pt idx="12">
                    <c:v>13-14</c:v>
                  </c:pt>
                  <c:pt idx="13">
                    <c:v>14-15</c:v>
                  </c:pt>
                  <c:pt idx="14">
                    <c:v>15-16</c:v>
                  </c:pt>
                  <c:pt idx="15">
                    <c:v>16-17</c:v>
                  </c:pt>
                  <c:pt idx="16">
                    <c:v>17-18</c:v>
                  </c:pt>
                  <c:pt idx="17">
                    <c:v>18-19</c:v>
                  </c:pt>
                  <c:pt idx="18">
                    <c:v>19-20</c:v>
                  </c:pt>
                  <c:pt idx="19">
                    <c:v>20-21</c:v>
                  </c:pt>
                  <c:pt idx="20">
                    <c:v>21-22</c:v>
                  </c:pt>
                  <c:pt idx="21">
                    <c:v>22-23</c:v>
                  </c:pt>
                  <c:pt idx="22">
                    <c:v>23-24</c:v>
                  </c:pt>
                  <c:pt idx="23">
                    <c:v>24-25</c:v>
                  </c:pt>
                  <c:pt idx="24">
                    <c:v>25-26</c:v>
                  </c:pt>
                </c:lvl>
              </c:multiLvlStrCache>
            </c:multiLvlStrRef>
          </c:cat>
          <c:val>
            <c:numRef>
              <c:f>Sheet1!$F$2:$F$26</c:f>
              <c:numCache>
                <c:formatCode>General</c:formatCode>
                <c:ptCount val="25"/>
                <c:pt idx="0">
                  <c:v>1628</c:v>
                </c:pt>
                <c:pt idx="1">
                  <c:v>1658</c:v>
                </c:pt>
                <c:pt idx="2">
                  <c:v>1623</c:v>
                </c:pt>
                <c:pt idx="3">
                  <c:v>1630</c:v>
                </c:pt>
                <c:pt idx="4">
                  <c:v>1643</c:v>
                </c:pt>
                <c:pt idx="5">
                  <c:v>1684</c:v>
                </c:pt>
                <c:pt idx="6">
                  <c:v>1682</c:v>
                </c:pt>
                <c:pt idx="7">
                  <c:v>1679</c:v>
                </c:pt>
                <c:pt idx="8">
                  <c:v>1670</c:v>
                </c:pt>
                <c:pt idx="9">
                  <c:v>1651</c:v>
                </c:pt>
                <c:pt idx="10">
                  <c:v>1658</c:v>
                </c:pt>
                <c:pt idx="11">
                  <c:v>1664</c:v>
                </c:pt>
                <c:pt idx="12">
                  <c:v>1589</c:v>
                </c:pt>
                <c:pt idx="13">
                  <c:v>1578</c:v>
                </c:pt>
                <c:pt idx="14">
                  <c:v>1546</c:v>
                </c:pt>
                <c:pt idx="15">
                  <c:v>1559</c:v>
                </c:pt>
                <c:pt idx="16">
                  <c:v>1586</c:v>
                </c:pt>
                <c:pt idx="17">
                  <c:v>1549</c:v>
                </c:pt>
                <c:pt idx="18">
                  <c:v>1538</c:v>
                </c:pt>
                <c:pt idx="19">
                  <c:v>1554</c:v>
                </c:pt>
                <c:pt idx="20">
                  <c:v>1500</c:v>
                </c:pt>
                <c:pt idx="21">
                  <c:v>1514</c:v>
                </c:pt>
                <c:pt idx="22">
                  <c:v>1468</c:v>
                </c:pt>
                <c:pt idx="23">
                  <c:v>1396</c:v>
                </c:pt>
                <c:pt idx="24">
                  <c:v>1468</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E6E73"/>
                </a:solidFill>
                <a:latin typeface="+mn-lt"/>
              </a:defRPr>
            </a:pPr>
            <a:endParaRPr lang="en-US"/>
          </a:p>
        </c:txPr>
        <c:crossAx val="2094734552"/>
        <c:crosses val="autoZero"/>
        <c:auto val="1"/>
        <c:lblAlgn val="ctr"/>
        <c:noMultiLvlLbl val="1"/>
      </c:catAx>
      <c:valAx>
        <c:axId val="2094734552"/>
        <c:scaling>
          <c:orientation val="minMax"/>
          <c:max val="1750"/>
          <c:min val="1350"/>
        </c:scaling>
        <c:delete val="0"/>
        <c:axPos val="l"/>
        <c:majorGridlines>
          <c:spPr>
            <a:ln w="9525" cap="flat">
              <a:solidFill>
                <a:srgbClr val="E5E5EA"/>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E6E73"/>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6E6E7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Accuracy</c:v>
                </c:pt>
              </c:strCache>
            </c:strRef>
          </c:tx>
          <c:spPr>
            <a:solidFill>
              <a:srgbClr val="D12F2F"/>
            </a:solidFill>
            <a:effectLst/>
          </c:spPr>
          <c:invertIfNegative val="0"/>
          <c:dLbls>
            <c:numFmt formatCode="0.0%" sourceLinked="0"/>
            <c:txPr>
              <a:bodyPr/>
              <a:lstStyle/>
              <a:p>
                <a:pPr>
                  <a:defRPr b="0" i="0" strike="noStrike" sz="1200" u="none">
                    <a:solidFill>
                      <a:srgbClr val="1D1D1F"/>
                    </a:solidFill>
                    <a:latin typeface="+mn-lt"/>
                  </a:defRPr>
                </a:pPr>
              </a:p>
            </c:txPr>
            <c:showLegendKey val="0"/>
            <c:showVal val="1"/>
            <c:showCatName val="0"/>
            <c:showSerName val="0"/>
            <c:showPercent val="0"/>
            <c:showBubbleSize val="0"/>
            <c:showLeaderLines val="0"/>
          </c:dLbls>
          <c:dPt>
            <c:idx val="0"/>
            <c:invertIfNegative val="0"/>
            <c:bubble3D val="0"/>
            <c:spPr>
              <a:solidFill>
                <a:srgbClr val="D12F2F"/>
              </a:solidFill>
              <a:effectLst/>
            </c:spPr>
          </c:dPt>
          <c:dPt>
            <c:idx val="1"/>
            <c:invertIfNegative val="0"/>
            <c:bubble3D val="0"/>
            <c:spPr>
              <a:solidFill>
                <a:srgbClr val="2A78D6"/>
              </a:solidFill>
              <a:effectLst/>
            </c:spPr>
          </c:dPt>
          <c:dPt>
            <c:idx val="2"/>
            <c:invertIfNegative val="0"/>
            <c:bubble3D val="0"/>
            <c:spPr>
              <a:solidFill>
                <a:srgbClr val="A8A7A1"/>
              </a:solidFill>
              <a:effectLst/>
            </c:spPr>
          </c:dPt>
          <c:dPt>
            <c:idx val="3"/>
            <c:invertIfNegative val="0"/>
            <c:bubble3D val="0"/>
            <c:spPr>
              <a:solidFill>
                <a:srgbClr val="A8A7A1"/>
              </a:solidFill>
              <a:effectLst/>
            </c:spPr>
          </c:dPt>
          <c:dPt>
            <c:idx val="4"/>
            <c:invertIfNegative val="0"/>
            <c:bubble3D val="0"/>
            <c:spPr>
              <a:solidFill>
                <a:srgbClr val="A8A7A1"/>
              </a:solidFill>
              <a:effectLst/>
            </c:spPr>
          </c:dPt>
          <c:dPt>
            <c:idx val="5"/>
            <c:invertIfNegative val="0"/>
            <c:bubble3D val="0"/>
            <c:spPr>
              <a:solidFill>
                <a:srgbClr val="A8A7A1"/>
              </a:solidFill>
              <a:effectLst/>
            </c:spPr>
          </c:dPt>
          <c:dPt>
            <c:idx val="6"/>
            <c:invertIfNegative val="0"/>
            <c:bubble3D val="0"/>
            <c:spPr>
              <a:solidFill>
                <a:srgbClr val="A8A7A1"/>
              </a:solidFill>
              <a:effectLst/>
            </c:spPr>
          </c:dPt>
          <c:dPt>
            <c:idx val="7"/>
            <c:invertIfNegative val="0"/>
            <c:bubble3D val="0"/>
            <c:spPr>
              <a:solidFill>
                <a:srgbClr val="A8A7A1"/>
              </a:solidFill>
              <a:effectLst/>
            </c:spPr>
          </c:dPt>
          <c:cat>
            <c:multiLvlStrRef>
              <c:f>Sheet1!$A$2:$A$9</c:f>
              <c:multiLvlStrCache>
                <c:ptCount val="8"/>
                <c:lvl>
                  <c:pt idx="0">
                    <c:v>Bookmaker (Bet365)</c:v>
                  </c:pt>
                  <c:pt idx="1">
                    <c:v>Poisson goals model</c:v>
                  </c:pt>
                  <c:pt idx="2">
                    <c:v>Ensemble (LR + GB + Poisson)</c:v>
                  </c:pt>
                  <c:pt idx="3">
                    <c:v>Logistic regression</c:v>
                  </c:pt>
                  <c:pt idx="4">
                    <c:v>Random forest</c:v>
                  </c:pt>
                  <c:pt idx="5">
                    <c:v>Gradient boosting</c:v>
                  </c:pt>
                  <c:pt idx="6">
                    <c:v>Elo only</c:v>
                  </c:pt>
                  <c:pt idx="7">
                    <c:v>Always home win</c:v>
                  </c:pt>
                </c:lvl>
              </c:multiLvlStrCache>
            </c:multiLvlStrRef>
          </c:cat>
          <c:val>
            <c:numRef>
              <c:f>Sheet1!$B$2:$B$9</c:f>
              <c:numCache>
                <c:formatCode>General</c:formatCode>
                <c:ptCount val="8"/>
                <c:pt idx="0">
                  <c:v>0.5473684210526316</c:v>
                </c:pt>
                <c:pt idx="1">
                  <c:v>0.5364035087719298</c:v>
                </c:pt>
                <c:pt idx="2">
                  <c:v>0.5342105263157895</c:v>
                </c:pt>
                <c:pt idx="3">
                  <c:v>0.5339912280701754</c:v>
                </c:pt>
                <c:pt idx="4">
                  <c:v>0.5339912280701754</c:v>
                </c:pt>
                <c:pt idx="5">
                  <c:v>0.5337719298245615</c:v>
                </c:pt>
                <c:pt idx="6">
                  <c:v>0.5333333333333333</c:v>
                </c:pt>
                <c:pt idx="7">
                  <c:v>0.4440789473684211</c:v>
                </c:pt>
              </c:numCache>
            </c:numRef>
          </c:val>
        </c:ser>
        <c:dLbls>
          <c:numFmt formatCode="0.0%" sourceLinked="0"/>
          <c:txPr>
            <a:bodyPr/>
            <a:lstStyle/>
            <a:p>
              <a:pPr>
                <a:defRPr b="0" i="0" strike="noStrike" sz="1200" u="none">
                  <a:solidFill>
                    <a:srgbClr val="1D1D1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6E6E73"/>
                </a:solidFill>
                <a:latin typeface="+mn-lt"/>
              </a:defRPr>
            </a:pPr>
            <a:endParaRPr lang="en-US"/>
          </a:p>
        </c:txPr>
        <c:crossAx val="2094734552"/>
        <c:crosses val="autoZero"/>
        <c:auto val="1"/>
        <c:lblAlgn val="ctr"/>
        <c:noMultiLvlLbl val="1"/>
      </c:catAx>
      <c:valAx>
        <c:axId val="2094734552"/>
        <c:scaling>
          <c:orientation val="minMax"/>
          <c:max val="0.6"/>
          <c:min val="0"/>
        </c:scaling>
        <c:delete val="0"/>
        <c:axPos val="b"/>
        <c:majorGridlines>
          <c:spPr>
            <a:ln w="9525" cap="flat">
              <a:solidFill>
                <a:srgbClr val="E5E5EA"/>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rgbClr val="6E6E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Poisson goals model</c:v>
                </c:pt>
              </c:strCache>
            </c:strRef>
          </c:tx>
          <c:spPr>
            <a:solidFill>
              <a:srgbClr val="2A78D6"/>
            </a:solidFill>
            <a:ln w="28575" cap="flat">
              <a:solidFill>
                <a:srgbClr val="2A78D6"/>
              </a:solidFill>
              <a:prstDash val="solid,solid,dash"/>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5"/>
            <c:spPr>
              <a:solidFill>
                <a:srgbClr val="2A78D6"/>
              </a:solidFill>
              <a:ln w="9525" cap="flat">
                <a:solidFill>
                  <a:srgbClr val="2A78D6"/>
                </a:solidFill>
                <a:prstDash val="solid"/>
                <a:round/>
              </a:ln>
              <a:effectLst/>
            </c:spPr>
          </c:marker>
          <c:cat>
            <c:multiLvlStrRef>
              <c:f>Sheet1!$A$2:$A$13</c:f>
              <c:multiLvlStrCache>
                <c:ptCount val="12"/>
                <c:lvl>
                  <c:pt idx="0">
                    <c:v>2014-15</c:v>
                  </c:pt>
                  <c:pt idx="1">
                    <c:v>2015-16</c:v>
                  </c:pt>
                  <c:pt idx="2">
                    <c:v>2016-17</c:v>
                  </c:pt>
                  <c:pt idx="3">
                    <c:v>2017-18</c:v>
                  </c:pt>
                  <c:pt idx="4">
                    <c:v>2018-19</c:v>
                  </c:pt>
                  <c:pt idx="5">
                    <c:v>2019-20</c:v>
                  </c:pt>
                  <c:pt idx="6">
                    <c:v>2020-21</c:v>
                  </c:pt>
                  <c:pt idx="7">
                    <c:v>2021-22</c:v>
                  </c:pt>
                  <c:pt idx="8">
                    <c:v>2022-23</c:v>
                  </c:pt>
                  <c:pt idx="9">
                    <c:v>2023-24</c:v>
                  </c:pt>
                  <c:pt idx="10">
                    <c:v>2024-25</c:v>
                  </c:pt>
                  <c:pt idx="11">
                    <c:v>2025-26</c:v>
                  </c:pt>
                </c:lvl>
              </c:multiLvlStrCache>
            </c:multiLvlStrRef>
          </c:cat>
          <c:val>
            <c:numRef>
              <c:f>Sheet1!$B$2:$B$13</c:f>
              <c:numCache>
                <c:formatCode>General</c:formatCode>
                <c:ptCount val="12"/>
                <c:pt idx="0">
                  <c:v>0.531578947368421</c:v>
                </c:pt>
                <c:pt idx="1">
                  <c:v>0.4578947368421052</c:v>
                </c:pt>
                <c:pt idx="2">
                  <c:v>0.5894736842105263</c:v>
                </c:pt>
                <c:pt idx="3">
                  <c:v>0.5421052631578948</c:v>
                </c:pt>
                <c:pt idx="4">
                  <c:v>0.5736842105263158</c:v>
                </c:pt>
                <c:pt idx="5">
                  <c:v>0.5368421052631579</c:v>
                </c:pt>
                <c:pt idx="6">
                  <c:v>0.5052631578947369</c:v>
                </c:pt>
                <c:pt idx="7">
                  <c:v>0.5789473684210527</c:v>
                </c:pt>
                <c:pt idx="8">
                  <c:v>0.5421052631578948</c:v>
                </c:pt>
                <c:pt idx="9">
                  <c:v>0.5763157894736842</c:v>
                </c:pt>
                <c:pt idx="10">
                  <c:v>0.5236842105263158</c:v>
                </c:pt>
                <c:pt idx="11">
                  <c:v>0.4789473684210526</c:v>
                </c:pt>
              </c:numCache>
            </c:numRef>
          </c:val>
          <c:smooth val="0"/>
        </c:ser>
        <c:ser>
          <c:idx val="1"/>
          <c:order val="1"/>
          <c:tx>
            <c:strRef>
              <c:f>Sheet1!$C$1</c:f>
              <c:strCache>
                <c:ptCount val="1"/>
                <c:pt idx="0">
                  <c:v>Bookmaker (Bet365)</c:v>
                </c:pt>
              </c:strCache>
            </c:strRef>
          </c:tx>
          <c:spPr>
            <a:solidFill>
              <a:srgbClr val="D12F2F"/>
            </a:solidFill>
            <a:ln w="28575" cap="flat">
              <a:solidFill>
                <a:srgbClr val="D12F2F"/>
              </a:solidFill>
              <a:prstDash val="solid,solid,dash"/>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5"/>
            <c:spPr>
              <a:solidFill>
                <a:srgbClr val="D12F2F"/>
              </a:solidFill>
              <a:ln w="9525" cap="flat">
                <a:solidFill>
                  <a:srgbClr val="D12F2F"/>
                </a:solidFill>
                <a:prstDash val="solid"/>
                <a:round/>
              </a:ln>
              <a:effectLst/>
            </c:spPr>
          </c:marker>
          <c:cat>
            <c:multiLvlStrRef>
              <c:f>Sheet1!$A$2:$A$13</c:f>
              <c:multiLvlStrCache>
                <c:ptCount val="12"/>
                <c:lvl>
                  <c:pt idx="0">
                    <c:v>2014-15</c:v>
                  </c:pt>
                  <c:pt idx="1">
                    <c:v>2015-16</c:v>
                  </c:pt>
                  <c:pt idx="2">
                    <c:v>2016-17</c:v>
                  </c:pt>
                  <c:pt idx="3">
                    <c:v>2017-18</c:v>
                  </c:pt>
                  <c:pt idx="4">
                    <c:v>2018-19</c:v>
                  </c:pt>
                  <c:pt idx="5">
                    <c:v>2019-20</c:v>
                  </c:pt>
                  <c:pt idx="6">
                    <c:v>2020-21</c:v>
                  </c:pt>
                  <c:pt idx="7">
                    <c:v>2021-22</c:v>
                  </c:pt>
                  <c:pt idx="8">
                    <c:v>2022-23</c:v>
                  </c:pt>
                  <c:pt idx="9">
                    <c:v>2023-24</c:v>
                  </c:pt>
                  <c:pt idx="10">
                    <c:v>2024-25</c:v>
                  </c:pt>
                  <c:pt idx="11">
                    <c:v>2025-26</c:v>
                  </c:pt>
                </c:lvl>
              </c:multiLvlStrCache>
            </c:multiLvlStrRef>
          </c:cat>
          <c:val>
            <c:numRef>
              <c:f>Sheet1!$C$2:$C$13</c:f>
              <c:numCache>
                <c:formatCode>General</c:formatCode>
                <c:ptCount val="12"/>
                <c:pt idx="0">
                  <c:v>0.5368421052631579</c:v>
                </c:pt>
                <c:pt idx="1">
                  <c:v>0.4736842105263157</c:v>
                </c:pt>
                <c:pt idx="2">
                  <c:v>0.6105263157894737</c:v>
                </c:pt>
                <c:pt idx="3">
                  <c:v>0.5526315789473685</c:v>
                </c:pt>
                <c:pt idx="4">
                  <c:v>0.5868421052631579</c:v>
                </c:pt>
                <c:pt idx="5">
                  <c:v>0.531578947368421</c:v>
                </c:pt>
                <c:pt idx="6">
                  <c:v>0.5157894736842106</c:v>
                </c:pt>
                <c:pt idx="7">
                  <c:v>0.5789473684210527</c:v>
                </c:pt>
                <c:pt idx="8">
                  <c:v>0.5605263157894737</c:v>
                </c:pt>
                <c:pt idx="9">
                  <c:v>0.5894736842105263</c:v>
                </c:pt>
                <c:pt idx="10">
                  <c:v>0.5421052631578948</c:v>
                </c:pt>
                <c:pt idx="11">
                  <c:v>0.4894736842105263</c:v>
                </c:pt>
              </c:numCache>
            </c:numRef>
          </c:val>
          <c:smooth val="0"/>
        </c:ser>
        <c:ser>
          <c:idx val="2"/>
          <c:order val="2"/>
          <c:tx>
            <c:strRef>
              <c:f>Sheet1!$D$1</c:f>
              <c:strCache>
                <c:ptCount val="1"/>
                <c:pt idx="0">
                  <c:v>Always home win</c:v>
                </c:pt>
              </c:strCache>
            </c:strRef>
          </c:tx>
          <c:spPr>
            <a:solidFill>
              <a:srgbClr val="A8A7A1"/>
            </a:solidFill>
            <a:ln w="28575" cap="flat">
              <a:solidFill>
                <a:srgbClr val="A8A7A1"/>
              </a:solidFill>
              <a:prstDash val="solid,solid,dash"/>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5"/>
            <c:spPr>
              <a:solidFill>
                <a:srgbClr val="A8A7A1"/>
              </a:solidFill>
              <a:ln w="9525" cap="flat">
                <a:solidFill>
                  <a:srgbClr val="A8A7A1"/>
                </a:solidFill>
                <a:prstDash val="solid"/>
                <a:round/>
              </a:ln>
              <a:effectLst/>
            </c:spPr>
          </c:marker>
          <c:cat>
            <c:multiLvlStrRef>
              <c:f>Sheet1!$A$2:$A$13</c:f>
              <c:multiLvlStrCache>
                <c:ptCount val="12"/>
                <c:lvl>
                  <c:pt idx="0">
                    <c:v>2014-15</c:v>
                  </c:pt>
                  <c:pt idx="1">
                    <c:v>2015-16</c:v>
                  </c:pt>
                  <c:pt idx="2">
                    <c:v>2016-17</c:v>
                  </c:pt>
                  <c:pt idx="3">
                    <c:v>2017-18</c:v>
                  </c:pt>
                  <c:pt idx="4">
                    <c:v>2018-19</c:v>
                  </c:pt>
                  <c:pt idx="5">
                    <c:v>2019-20</c:v>
                  </c:pt>
                  <c:pt idx="6">
                    <c:v>2020-21</c:v>
                  </c:pt>
                  <c:pt idx="7">
                    <c:v>2021-22</c:v>
                  </c:pt>
                  <c:pt idx="8">
                    <c:v>2022-23</c:v>
                  </c:pt>
                  <c:pt idx="9">
                    <c:v>2023-24</c:v>
                  </c:pt>
                  <c:pt idx="10">
                    <c:v>2024-25</c:v>
                  </c:pt>
                  <c:pt idx="11">
                    <c:v>2025-26</c:v>
                  </c:pt>
                </c:lvl>
              </c:multiLvlStrCache>
            </c:multiLvlStrRef>
          </c:cat>
          <c:val>
            <c:numRef>
              <c:f>Sheet1!$D$2:$D$13</c:f>
              <c:numCache>
                <c:formatCode>General</c:formatCode>
                <c:ptCount val="12"/>
                <c:pt idx="0">
                  <c:v>0.4526315789473684</c:v>
                </c:pt>
                <c:pt idx="1">
                  <c:v>0.4131578947368421</c:v>
                </c:pt>
                <c:pt idx="2">
                  <c:v>0.4921052631578947</c:v>
                </c:pt>
                <c:pt idx="3">
                  <c:v>0.4552631578947368</c:v>
                </c:pt>
                <c:pt idx="4">
                  <c:v>0.4763157894736842</c:v>
                </c:pt>
                <c:pt idx="5">
                  <c:v>0.4526315789473684</c:v>
                </c:pt>
                <c:pt idx="6">
                  <c:v>0.3789473684210526</c:v>
                </c:pt>
                <c:pt idx="7">
                  <c:v>0.4289473684210526</c:v>
                </c:pt>
                <c:pt idx="8">
                  <c:v>0.4842105263157895</c:v>
                </c:pt>
                <c:pt idx="9">
                  <c:v>0.4605263157894737</c:v>
                </c:pt>
                <c:pt idx="10">
                  <c:v>0.4078947368421052</c:v>
                </c:pt>
                <c:pt idx="11">
                  <c:v>0.4263157894736842</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E6E73"/>
                </a:solidFill>
                <a:latin typeface="+mn-lt"/>
              </a:defRPr>
            </a:pPr>
            <a:endParaRPr lang="en-US"/>
          </a:p>
        </c:txPr>
        <c:crossAx val="2094734552"/>
        <c:crosses val="autoZero"/>
        <c:auto val="1"/>
        <c:lblAlgn val="ctr"/>
        <c:noMultiLvlLbl val="1"/>
      </c:catAx>
      <c:valAx>
        <c:axId val="2094734552"/>
        <c:scaling>
          <c:orientation val="minMax"/>
          <c:max val="0.65"/>
          <c:min val="0.35"/>
        </c:scaling>
        <c:delete val="0"/>
        <c:axPos val="l"/>
        <c:majorGridlines>
          <c:spPr>
            <a:ln w="9525" cap="flat">
              <a:solidFill>
                <a:srgbClr val="E5E5EA"/>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E6E73"/>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6E6E7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Accuracy</c:v>
                </c:pt>
              </c:strCache>
            </c:strRef>
          </c:tx>
          <c:spPr>
            <a:solidFill>
              <a:srgbClr val="A8A7A1"/>
            </a:solidFill>
            <a:effectLst/>
          </c:spPr>
          <c:invertIfNegative val="0"/>
          <c:dLbls>
            <c:numFmt formatCode="0.0%" sourceLinked="0"/>
            <c:txPr>
              <a:bodyPr/>
              <a:lstStyle/>
              <a:p>
                <a:pPr>
                  <a:defRPr b="0" i="0" strike="noStrike" sz="1200" u="none">
                    <a:solidFill>
                      <a:srgbClr val="1D1D1F"/>
                    </a:solidFill>
                    <a:latin typeface="+mn-lt"/>
                  </a:defRPr>
                </a:pPr>
              </a:p>
            </c:txPr>
            <c:showLegendKey val="0"/>
            <c:showVal val="1"/>
            <c:showCatName val="0"/>
            <c:showSerName val="0"/>
            <c:showPercent val="0"/>
            <c:showBubbleSize val="0"/>
            <c:showLeaderLines val="0"/>
          </c:dLbls>
          <c:dPt>
            <c:idx val="0"/>
            <c:invertIfNegative val="0"/>
            <c:bubble3D val="0"/>
            <c:spPr>
              <a:solidFill>
                <a:srgbClr val="A8A7A1"/>
              </a:solidFill>
              <a:effectLst/>
            </c:spPr>
          </c:dPt>
          <c:dPt>
            <c:idx val="1"/>
            <c:invertIfNegative val="0"/>
            <c:bubble3D val="0"/>
            <c:spPr>
              <a:solidFill>
                <a:srgbClr val="A8A7A1"/>
              </a:solidFill>
              <a:effectLst/>
            </c:spPr>
          </c:dPt>
          <c:dPt>
            <c:idx val="2"/>
            <c:invertIfNegative val="0"/>
            <c:bubble3D val="0"/>
            <c:spPr>
              <a:solidFill>
                <a:srgbClr val="2A78D6"/>
              </a:solidFill>
              <a:effectLst/>
            </c:spPr>
          </c:dPt>
          <c:dPt>
            <c:idx val="3"/>
            <c:invertIfNegative val="0"/>
            <c:bubble3D val="0"/>
            <c:spPr>
              <a:solidFill>
                <a:srgbClr val="D12F2F"/>
              </a:solidFill>
              <a:effectLst/>
            </c:spPr>
          </c:dPt>
          <c:cat>
            <c:multiLvlStrRef>
              <c:f>Sheet1!$A$2:$A$5</c:f>
              <c:multiLvlStrCache>
                <c:ptCount val="4"/>
                <c:lvl>
                  <c:pt idx="0">
                    <c:v>Base features</c:v>
                  </c:pt>
                  <c:pt idx="1">
                    <c:v>+ fatigue</c:v>
                  </c:pt>
                  <c:pt idx="2">
                    <c:v>+ players</c:v>
                  </c:pt>
                  <c:pt idx="3">
                    <c:v>Bookmaker</c:v>
                  </c:pt>
                </c:lvl>
              </c:multiLvlStrCache>
            </c:multiLvlStrRef>
          </c:cat>
          <c:val>
            <c:numRef>
              <c:f>Sheet1!$B$2:$B$5</c:f>
              <c:numCache>
                <c:formatCode>General</c:formatCode>
                <c:ptCount val="4"/>
                <c:pt idx="0">
                  <c:v>0.5388157894736842</c:v>
                </c:pt>
                <c:pt idx="1">
                  <c:v>0.5351973684210526</c:v>
                </c:pt>
                <c:pt idx="2">
                  <c:v>0.5440789473684211</c:v>
                </c:pt>
                <c:pt idx="3">
                  <c:v>0.5493421052631579</c:v>
                </c:pt>
              </c:numCache>
            </c:numRef>
          </c:val>
        </c:ser>
        <c:dLbls>
          <c:numFmt formatCode="0.0%" sourceLinked="0"/>
          <c:txPr>
            <a:bodyPr/>
            <a:lstStyle/>
            <a:p>
              <a:pPr>
                <a:defRPr b="0" i="0" strike="noStrike" sz="1200" u="none">
                  <a:solidFill>
                    <a:srgbClr val="1D1D1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6E6E73"/>
                </a:solidFill>
                <a:latin typeface="+mn-lt"/>
              </a:defRPr>
            </a:pPr>
            <a:endParaRPr lang="en-US"/>
          </a:p>
        </c:txPr>
        <c:crossAx val="2094734552"/>
        <c:crosses val="autoZero"/>
        <c:auto val="1"/>
        <c:lblAlgn val="ctr"/>
        <c:noMultiLvlLbl val="1"/>
      </c:catAx>
      <c:valAx>
        <c:axId val="2094734552"/>
        <c:scaling>
          <c:orientation val="minMax"/>
          <c:max val="0.6"/>
          <c:min val="0"/>
        </c:scaling>
        <c:delete val="0"/>
        <c:axPos val="b"/>
        <c:majorGridlines>
          <c:spPr>
            <a:ln w="9525" cap="flat">
              <a:solidFill>
                <a:srgbClr val="E5E5EA"/>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rgbClr val="6E6E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Our project asks a simple question: before a Premier League match kicks off, can a computer predict the chance of a home win, a draw or an away win? We used every Premier League match from 2000-01 to 2025-26, built a model, and tested it fairly against real bookmakers.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26 seasons, home teams won 45.7% of matches, a quarter were draws and about 30% were away wins. Football has few goals, so luck matters a lot. The simplest possible rule, always pick the home team, is already right 44.4% of the time in our test seasons. Our model has to beat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comes from public datasets that anyone can download, listed with their licences in SOURCES.md and on the Data page of our website. The script checks the data automatically: 380 matches every season, no duplicates, and every result agrees with the score. Bookmaker odds are only a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mistake in football prediction projects is called data leakage: accidentally using information from the match you are predicting, like its number of shots. That gives amazing scores that are fake. Our first version of this project had this problem. Now every input is calculated only from earlier matches, and an automatic test 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inputs, called features. The most important is the Elo rating: a single number for how strong a team is, which goes up when it wins and down when it loses. We also use recent form, how many goals and shots a team makes and allows, its league position, last season's finish, and from 2016 the quality of its starting eleven from Fantasy Premier League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our own Elo ratings at the end of every season. You can see real football history: Chelsea rising after 2004, Manchester United under Ferguson, Manchester City from 2011, Liverpool under Klopp. The formula turns the gap between two ratings into an expected score; the home team gets 50 extra points for home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seven models. Every model outputs three probabilities, for home win, draw and away win. The model settings were chosen using only the seasons 2010 to 2014, so the test seasons stayed unseen.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fairly, we copied real life. To predict a season, the model only learns from the seasons before it, then predicts all 380 matches. We repeated this for 12 seasons, so we have 4,560 honest test predictions. The original project tested on only 38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one prediction is made, for Arsenal at home to Chelsea. Step one: the model starts from an average match, 1.47 goals for the home team, and each input multiplies that up or down. Arsenal end up with 1.95 expected goals and Chelsea 0.78. Step two: a Poisson distribution turns expected goals into the chance of scoring 0, 1, 2 or more goals. Step three: multiply the two to get every exact score, and add up the scores where the home team has more goals. The website shows every number of this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results on 4,560 test matches. All our models beat the baseline of 44.4% by about 9 points. The best was the Poisson goals model with 53.6%. The bookmaker, which is a professional company with much more information, gets 54.7%. Elo alone already gets 53.3%, so team strength is most of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accuracy in every test season. Our model, in blue, follows the bookmaker, in red, closely. 2015-16 was very hard for everyone: Leicester won the league as 5000-1 outsiders. In 2020-21 matches were played without fans because of COVID-19, and away teams won more often than home teams (40.3% vs 37.9%).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classification report of the model our website uses. Precision means: when the model picks a home win, how often is it right. Recall means: of all real home wins, how many did it find. F1 combines both. Home wins have the best scores. Draws score zero: 23% of matches are draws, but a draw is almost never the most likely single result, so the model never picks one. The bookmaker has exactly the same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only checks the single pick. These scores judge the full probabilities. Log loss punishes confident mistakes. RPS, the ranked probability score, is the standard in football research because it knows that a draw is between a home and an away win. AUC says how well the model separates outcomes. On all of them we are close to the bookmaker and far better than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whether more data helps. Adding cup, European and international match dates, to measure tiredness, made no difference: 53.5% instead of 53.9%. Adding who is in the starting eleven helped a little: 54.4%. So our final model uses the base features plus the player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version used one season, some generated data and leaked future information, and it was tested on only 38 matches. On those same 38 matches, version 2 scores much higher, but even always picking the home team scores well, which shows 38 matches is too few to judge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does not know about injuries or the confirmed line-up, which is the biggest reason the bookmaker is still slightly better. Draws stay very hard. Some data is missing from free sources. Next we would add expected-goals data and simulate whole seasons to predict the final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with real data and a fair test, our model predicts Premier League results about as well as we could expect, within about one percentage point of a professional bookmaker. Team strength is the most important information, and a simple model beat the complex ones. Most of all, we learned that testing honestly matters more than using a fancy model. Thank you, we are happy to take questions, and we can show the live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sources and references are listed here and in SOURCES.md, with full citations.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86868B"/>
                </a:solidFill>
              </a:rPr>
              <a:t>Premier League Predictor</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6868B"/>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A1A1A6"/>
                </a:solidFill>
              </a:rPr>
              <a:t>Premier League Predictor</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1A1A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686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Kicker"/>
          <p:cNvSpPr txBox="1"/>
          <p:nvPr/>
        </p:nvSpPr>
        <p:spPr>
          <a:xfrm>
            <a:off x="548640" y="2011680"/>
            <a:ext cx="11094415" cy="411480"/>
          </a:xfrm>
          <a:prstGeom prst="rect">
            <a:avLst/>
          </a:prstGeom>
          <a:noFill/>
          <a:ln/>
        </p:spPr>
        <p:txBody>
          <a:bodyPr wrap="square" lIns="0" tIns="0" rIns="0" bIns="0" rtlCol="0" anchor="ctr"/>
          <a:lstStyle/>
          <a:p>
            <a:pPr indent="0" marL="0">
              <a:buNone/>
            </a:pPr>
            <a:r>
              <a:rPr lang="en-US" sz="2000" b="1" dirty="0">
                <a:solidFill>
                  <a:srgbClr val="2997FF"/>
                </a:solidFill>
              </a:rPr>
              <a:t>Data science project</a:t>
            </a:r>
            <a:endParaRPr lang="en-US" sz="2000" dirty="0"/>
          </a:p>
        </p:txBody>
      </p:sp>
      <p:sp>
        <p:nvSpPr>
          <p:cNvPr id="4" name="Title"/>
          <p:cNvSpPr txBox="1"/>
          <p:nvPr/>
        </p:nvSpPr>
        <p:spPr>
          <a:xfrm>
            <a:off x="548640" y="2468880"/>
            <a:ext cx="11094415" cy="1737360"/>
          </a:xfrm>
          <a:prstGeom prst="rect">
            <a:avLst/>
          </a:prstGeom>
          <a:noFill/>
          <a:ln/>
        </p:spPr>
        <p:txBody>
          <a:bodyPr wrap="square" lIns="0" tIns="0" rIns="0" bIns="0" rtlCol="0" anchor="t"/>
          <a:lstStyle/>
          <a:p>
            <a:pPr indent="0" marL="0">
              <a:buNone/>
            </a:pPr>
            <a:r>
              <a:rPr lang="en-US" sz="5400" b="1" dirty="0">
                <a:solidFill>
                  <a:srgbClr val="FFFFFF"/>
                </a:solidFill>
              </a:rPr>
              <a:t>Can we predict Premier League matches?</a:t>
            </a:r>
            <a:endParaRPr lang="en-US" sz="5400" dirty="0"/>
          </a:p>
        </p:txBody>
      </p:sp>
      <p:sp>
        <p:nvSpPr>
          <p:cNvPr id="5" name="Subtitle"/>
          <p:cNvSpPr txBox="1"/>
          <p:nvPr/>
        </p:nvSpPr>
        <p:spPr>
          <a:xfrm>
            <a:off x="548640" y="4343400"/>
            <a:ext cx="11094415" cy="457200"/>
          </a:xfrm>
          <a:prstGeom prst="rect">
            <a:avLst/>
          </a:prstGeom>
          <a:noFill/>
          <a:ln/>
        </p:spPr>
        <p:txBody>
          <a:bodyPr wrap="square" lIns="0" tIns="0" rIns="0" bIns="0" rtlCol="0" anchor="ctr"/>
          <a:lstStyle/>
          <a:p>
            <a:pPr indent="0" marL="0">
              <a:buNone/>
            </a:pPr>
            <a:r>
              <a:rPr lang="en-US" sz="2200" dirty="0">
                <a:solidFill>
                  <a:srgbClr val="A1A1A6"/>
                </a:solidFill>
              </a:rPr>
              <a:t>26 seasons · 9,880 matches · 2000-01 to 2025-26</a:t>
            </a:r>
            <a:endParaRPr lang="en-US" sz="2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1A1A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Kicker"/>
          <p:cNvSpPr txBox="1"/>
          <p:nvPr/>
        </p:nvSpPr>
        <p:spPr>
          <a:xfrm>
            <a:off x="548640" y="502920"/>
            <a:ext cx="11094415" cy="365760"/>
          </a:xfrm>
          <a:prstGeom prst="rect">
            <a:avLst/>
          </a:prstGeom>
          <a:noFill/>
          <a:ln/>
        </p:spPr>
        <p:txBody>
          <a:bodyPr wrap="square" lIns="0" tIns="0" rIns="0" bIns="0" rtlCol="0" anchor="ctr"/>
          <a:lstStyle/>
          <a:p>
            <a:pPr indent="0" marL="0">
              <a:buNone/>
            </a:pPr>
            <a:r>
              <a:rPr lang="en-US" sz="1600" b="1" dirty="0">
                <a:solidFill>
                  <a:srgbClr val="0071E3"/>
                </a:solidFill>
              </a:rPr>
              <a:t>The problem</a:t>
            </a:r>
            <a:endParaRPr lang="en-US" sz="1600" dirty="0"/>
          </a:p>
        </p:txBody>
      </p:sp>
      <p:sp>
        <p:nvSpPr>
          <p:cNvPr id="4" name="Title"/>
          <p:cNvSpPr txBox="1"/>
          <p:nvPr/>
        </p:nvSpPr>
        <p:spPr>
          <a:xfrm>
            <a:off x="548640" y="886968"/>
            <a:ext cx="11094415" cy="868680"/>
          </a:xfrm>
          <a:prstGeom prst="rect">
            <a:avLst/>
          </a:prstGeom>
          <a:noFill/>
          <a:ln/>
        </p:spPr>
        <p:txBody>
          <a:bodyPr wrap="square" lIns="0" tIns="0" rIns="0" bIns="0" rtlCol="0" anchor="t">
            <a:normAutofit/>
          </a:bodyPr>
          <a:lstStyle/>
          <a:p>
            <a:pPr indent="0" marL="0">
              <a:buNone/>
            </a:pPr>
            <a:r>
              <a:rPr lang="en-US" sz="3600" b="1" dirty="0">
                <a:solidFill>
                  <a:srgbClr val="1D1D1F"/>
                </a:solidFill>
              </a:rPr>
              <a:t>Football is hard to predict</a:t>
            </a:r>
            <a:endParaRPr lang="en-US" sz="3600" dirty="0"/>
          </a:p>
        </p:txBody>
      </p:sp>
      <p:sp>
        <p:nvSpPr>
          <p:cNvPr id="5" name="Stat 1"/>
          <p:cNvSpPr/>
          <p:nvPr/>
        </p:nvSpPr>
        <p:spPr>
          <a:xfrm>
            <a:off x="548640" y="1965960"/>
            <a:ext cx="3484778" cy="2103120"/>
          </a:xfrm>
          <a:prstGeom prst="roundRect">
            <a:avLst>
              <a:gd name="adj" fmla="val 7826"/>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6" name="Text 3"/>
          <p:cNvSpPr txBox="1"/>
          <p:nvPr/>
        </p:nvSpPr>
        <p:spPr>
          <a:xfrm>
            <a:off x="822960" y="2240280"/>
            <a:ext cx="2936138" cy="914400"/>
          </a:xfrm>
          <a:prstGeom prst="rect">
            <a:avLst/>
          </a:prstGeom>
          <a:noFill/>
          <a:ln/>
        </p:spPr>
        <p:txBody>
          <a:bodyPr wrap="square" lIns="0" tIns="0" rIns="0" bIns="0" rtlCol="0" anchor="ctr"/>
          <a:lstStyle/>
          <a:p>
            <a:pPr indent="0" marL="0">
              <a:buNone/>
            </a:pPr>
            <a:r>
              <a:rPr lang="en-US" sz="4800" b="1" dirty="0">
                <a:solidFill>
                  <a:srgbClr val="2A78D6"/>
                </a:solidFill>
              </a:rPr>
              <a:t>45.7%</a:t>
            </a:r>
            <a:endParaRPr lang="en-US" sz="4800" dirty="0"/>
          </a:p>
        </p:txBody>
      </p:sp>
      <p:sp>
        <p:nvSpPr>
          <p:cNvPr id="7" name="Text 4"/>
          <p:cNvSpPr txBox="1"/>
          <p:nvPr/>
        </p:nvSpPr>
        <p:spPr>
          <a:xfrm>
            <a:off x="822960" y="3200400"/>
            <a:ext cx="2936138" cy="731520"/>
          </a:xfrm>
          <a:prstGeom prst="rect">
            <a:avLst/>
          </a:prstGeom>
          <a:noFill/>
          <a:ln/>
        </p:spPr>
        <p:txBody>
          <a:bodyPr wrap="square" lIns="0" tIns="0" rIns="0" bIns="0" rtlCol="0" anchor="t"/>
          <a:lstStyle/>
          <a:p>
            <a:pPr indent="0" marL="0">
              <a:buNone/>
            </a:pPr>
            <a:r>
              <a:rPr lang="en-US" sz="1500" dirty="0">
                <a:solidFill>
                  <a:srgbClr val="6E6E73"/>
                </a:solidFill>
              </a:rPr>
              <a:t>of matches are home wins</a:t>
            </a:r>
            <a:endParaRPr lang="en-US" sz="1500" dirty="0"/>
          </a:p>
        </p:txBody>
      </p:sp>
      <p:sp>
        <p:nvSpPr>
          <p:cNvPr id="8" name="Stat 2"/>
          <p:cNvSpPr/>
          <p:nvPr/>
        </p:nvSpPr>
        <p:spPr>
          <a:xfrm>
            <a:off x="4353458" y="1965960"/>
            <a:ext cx="3484778" cy="2103120"/>
          </a:xfrm>
          <a:prstGeom prst="roundRect">
            <a:avLst>
              <a:gd name="adj" fmla="val 7826"/>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9" name="Text 6"/>
          <p:cNvSpPr txBox="1"/>
          <p:nvPr/>
        </p:nvSpPr>
        <p:spPr>
          <a:xfrm>
            <a:off x="4627778" y="2240280"/>
            <a:ext cx="2936138" cy="914400"/>
          </a:xfrm>
          <a:prstGeom prst="rect">
            <a:avLst/>
          </a:prstGeom>
          <a:noFill/>
          <a:ln/>
        </p:spPr>
        <p:txBody>
          <a:bodyPr wrap="square" lIns="0" tIns="0" rIns="0" bIns="0" rtlCol="0" anchor="ctr"/>
          <a:lstStyle/>
          <a:p>
            <a:pPr indent="0" marL="0">
              <a:buNone/>
            </a:pPr>
            <a:r>
              <a:rPr lang="en-US" sz="4800" b="1" dirty="0">
                <a:solidFill>
                  <a:srgbClr val="1D1D1F"/>
                </a:solidFill>
              </a:rPr>
              <a:t>24.8%</a:t>
            </a:r>
            <a:endParaRPr lang="en-US" sz="4800" dirty="0"/>
          </a:p>
        </p:txBody>
      </p:sp>
      <p:sp>
        <p:nvSpPr>
          <p:cNvPr id="10" name="Text 7"/>
          <p:cNvSpPr txBox="1"/>
          <p:nvPr/>
        </p:nvSpPr>
        <p:spPr>
          <a:xfrm>
            <a:off x="4627778" y="3200400"/>
            <a:ext cx="2936138" cy="731520"/>
          </a:xfrm>
          <a:prstGeom prst="rect">
            <a:avLst/>
          </a:prstGeom>
          <a:noFill/>
          <a:ln/>
        </p:spPr>
        <p:txBody>
          <a:bodyPr wrap="square" lIns="0" tIns="0" rIns="0" bIns="0" rtlCol="0" anchor="t"/>
          <a:lstStyle/>
          <a:p>
            <a:pPr indent="0" marL="0">
              <a:buNone/>
            </a:pPr>
            <a:r>
              <a:rPr lang="en-US" sz="1500" dirty="0">
                <a:solidFill>
                  <a:srgbClr val="6E6E73"/>
                </a:solidFill>
              </a:rPr>
              <a:t>end in a draw</a:t>
            </a:r>
            <a:endParaRPr lang="en-US" sz="1500" dirty="0"/>
          </a:p>
        </p:txBody>
      </p:sp>
      <p:sp>
        <p:nvSpPr>
          <p:cNvPr id="11" name="Stat 3"/>
          <p:cNvSpPr/>
          <p:nvPr/>
        </p:nvSpPr>
        <p:spPr>
          <a:xfrm>
            <a:off x="8158277" y="1965960"/>
            <a:ext cx="3484778" cy="2103120"/>
          </a:xfrm>
          <a:prstGeom prst="roundRect">
            <a:avLst>
              <a:gd name="adj" fmla="val 7826"/>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12" name="Text 9"/>
          <p:cNvSpPr txBox="1"/>
          <p:nvPr/>
        </p:nvSpPr>
        <p:spPr>
          <a:xfrm>
            <a:off x="8432597" y="2240280"/>
            <a:ext cx="2936138" cy="914400"/>
          </a:xfrm>
          <a:prstGeom prst="rect">
            <a:avLst/>
          </a:prstGeom>
          <a:noFill/>
          <a:ln/>
        </p:spPr>
        <p:txBody>
          <a:bodyPr wrap="square" lIns="0" tIns="0" rIns="0" bIns="0" rtlCol="0" anchor="ctr"/>
          <a:lstStyle/>
          <a:p>
            <a:pPr indent="0" marL="0">
              <a:buNone/>
            </a:pPr>
            <a:r>
              <a:rPr lang="en-US" sz="4800" b="1" dirty="0">
                <a:solidFill>
                  <a:srgbClr val="1D1D1F"/>
                </a:solidFill>
              </a:rPr>
              <a:t>29.5%</a:t>
            </a:r>
            <a:endParaRPr lang="en-US" sz="4800" dirty="0"/>
          </a:p>
        </p:txBody>
      </p:sp>
      <p:sp>
        <p:nvSpPr>
          <p:cNvPr id="13" name="Text 10"/>
          <p:cNvSpPr txBox="1"/>
          <p:nvPr/>
        </p:nvSpPr>
        <p:spPr>
          <a:xfrm>
            <a:off x="8432597" y="3200400"/>
            <a:ext cx="2936138" cy="731520"/>
          </a:xfrm>
          <a:prstGeom prst="rect">
            <a:avLst/>
          </a:prstGeom>
          <a:noFill/>
          <a:ln/>
        </p:spPr>
        <p:txBody>
          <a:bodyPr wrap="square" lIns="0" tIns="0" rIns="0" bIns="0" rtlCol="0" anchor="t"/>
          <a:lstStyle/>
          <a:p>
            <a:pPr indent="0" marL="0">
              <a:buNone/>
            </a:pPr>
            <a:r>
              <a:rPr lang="en-US" sz="1500" dirty="0">
                <a:solidFill>
                  <a:srgbClr val="6E6E73"/>
                </a:solidFill>
              </a:rPr>
              <a:t>are away wins</a:t>
            </a:r>
            <a:endParaRPr lang="en-US" sz="1500" dirty="0"/>
          </a:p>
        </p:txBody>
      </p:sp>
      <p:sp>
        <p:nvSpPr>
          <p:cNvPr id="14" name="Body"/>
          <p:cNvSpPr txBox="1"/>
          <p:nvPr/>
        </p:nvSpPr>
        <p:spPr>
          <a:xfrm>
            <a:off x="548640" y="4434840"/>
            <a:ext cx="11094415" cy="173736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6E6E73"/>
                </a:solidFill>
              </a:rPr>
              <a:t>Only 2.72 goals per match, so one lucky goal changes the result</a:t>
            </a:r>
            <a:endParaRPr lang="en-US" sz="1600" dirty="0"/>
          </a:p>
          <a:p>
            <a:pPr marL="228600" indent="-228600">
              <a:spcAft>
                <a:spcPts val="600"/>
              </a:spcAft>
              <a:buSzPct val="100000"/>
              <a:buChar char="•"/>
            </a:pPr>
            <a:r>
              <a:rPr lang="en-US" sz="1600" dirty="0">
                <a:solidFill>
                  <a:srgbClr val="6E6E73"/>
                </a:solidFill>
              </a:rPr>
              <a:t>Any model must beat the simple rule "always pick the home team"</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686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Kicker"/>
          <p:cNvSpPr txBox="1"/>
          <p:nvPr/>
        </p:nvSpPr>
        <p:spPr>
          <a:xfrm>
            <a:off x="548640" y="502920"/>
            <a:ext cx="11094415" cy="365760"/>
          </a:xfrm>
          <a:prstGeom prst="rect">
            <a:avLst/>
          </a:prstGeom>
          <a:noFill/>
          <a:ln/>
        </p:spPr>
        <p:txBody>
          <a:bodyPr wrap="square" lIns="0" tIns="0" rIns="0" bIns="0" rtlCol="0" anchor="ctr"/>
          <a:lstStyle/>
          <a:p>
            <a:pPr indent="0" marL="0">
              <a:buNone/>
            </a:pPr>
            <a:r>
              <a:rPr lang="en-US" sz="1600" b="1" dirty="0">
                <a:solidFill>
                  <a:srgbClr val="0071E3"/>
                </a:solidFill>
              </a:rPr>
              <a:t>Data</a:t>
            </a:r>
            <a:endParaRPr lang="en-US" sz="1600" dirty="0"/>
          </a:p>
        </p:txBody>
      </p:sp>
      <p:sp>
        <p:nvSpPr>
          <p:cNvPr id="4" name="Title"/>
          <p:cNvSpPr txBox="1"/>
          <p:nvPr/>
        </p:nvSpPr>
        <p:spPr>
          <a:xfrm>
            <a:off x="548640" y="886968"/>
            <a:ext cx="11094415" cy="868680"/>
          </a:xfrm>
          <a:prstGeom prst="rect">
            <a:avLst/>
          </a:prstGeom>
          <a:noFill/>
          <a:ln/>
        </p:spPr>
        <p:txBody>
          <a:bodyPr wrap="square" lIns="0" tIns="0" rIns="0" bIns="0" rtlCol="0" anchor="t">
            <a:normAutofit/>
          </a:bodyPr>
          <a:lstStyle/>
          <a:p>
            <a:pPr indent="0" marL="0">
              <a:buNone/>
            </a:pPr>
            <a:r>
              <a:rPr lang="en-US" sz="3600" b="1" dirty="0">
                <a:solidFill>
                  <a:srgbClr val="1D1D1F"/>
                </a:solidFill>
              </a:rPr>
              <a:t>Real data from published sources</a:t>
            </a:r>
            <a:endParaRPr lang="en-US" sz="3600" dirty="0"/>
          </a:p>
        </p:txBody>
      </p:sp>
      <p:sp>
        <p:nvSpPr>
          <p:cNvPr id="5" name="Card 1"/>
          <p:cNvSpPr/>
          <p:nvPr/>
        </p:nvSpPr>
        <p:spPr>
          <a:xfrm>
            <a:off x="548640" y="1965960"/>
            <a:ext cx="5410048" cy="1691640"/>
          </a:xfrm>
          <a:prstGeom prst="roundRect">
            <a:avLst>
              <a:gd name="adj" fmla="val 9730"/>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6" name="Card 1 dot"/>
          <p:cNvSpPr/>
          <p:nvPr/>
        </p:nvSpPr>
        <p:spPr>
          <a:xfrm>
            <a:off x="822960" y="2240280"/>
            <a:ext cx="384048" cy="384048"/>
          </a:xfrm>
          <a:prstGeom prst="ellipse">
            <a:avLst/>
          </a:prstGeom>
          <a:solidFill>
            <a:srgbClr val="0071E3"/>
          </a:solidFill>
          <a:ln w="12700">
            <a:solidFill>
              <a:srgbClr val="0071E3"/>
            </a:solidFill>
            <a:prstDash val="solid"/>
          </a:ln>
        </p:spPr>
      </p:sp>
      <p:sp>
        <p:nvSpPr>
          <p:cNvPr id="7" name="Text 4"/>
          <p:cNvSpPr txBox="1"/>
          <p:nvPr/>
        </p:nvSpPr>
        <p:spPr>
          <a:xfrm>
            <a:off x="822960" y="2240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5"/>
          <p:cNvSpPr txBox="1"/>
          <p:nvPr/>
        </p:nvSpPr>
        <p:spPr>
          <a:xfrm>
            <a:off x="1371600" y="2203704"/>
            <a:ext cx="4312768" cy="457200"/>
          </a:xfrm>
          <a:prstGeom prst="rect">
            <a:avLst/>
          </a:prstGeom>
          <a:noFill/>
          <a:ln/>
        </p:spPr>
        <p:txBody>
          <a:bodyPr wrap="square" lIns="0" tIns="0" rIns="0" bIns="0" rtlCol="0" anchor="ctr">
            <a:normAutofit/>
          </a:bodyPr>
          <a:lstStyle/>
          <a:p>
            <a:pPr indent="0" marL="0">
              <a:buNone/>
            </a:pPr>
            <a:r>
              <a:rPr lang="en-US" sz="1900" b="1" dirty="0">
                <a:solidFill>
                  <a:srgbClr val="1D1D1F"/>
                </a:solidFill>
              </a:rPr>
              <a:t>9,880 league matches</a:t>
            </a:r>
            <a:endParaRPr lang="en-US" sz="1900" dirty="0"/>
          </a:p>
        </p:txBody>
      </p:sp>
      <p:sp>
        <p:nvSpPr>
          <p:cNvPr id="9" name="Text 6"/>
          <p:cNvSpPr txBox="1"/>
          <p:nvPr/>
        </p:nvSpPr>
        <p:spPr>
          <a:xfrm>
            <a:off x="822960" y="2770632"/>
            <a:ext cx="4861408" cy="731520"/>
          </a:xfrm>
          <a:prstGeom prst="rect">
            <a:avLst/>
          </a:prstGeom>
          <a:noFill/>
          <a:ln/>
        </p:spPr>
        <p:txBody>
          <a:bodyPr wrap="square" lIns="0" tIns="0" rIns="0" bIns="0" rtlCol="0" anchor="t"/>
          <a:lstStyle/>
          <a:p>
            <a:pPr indent="0" marL="0">
              <a:buNone/>
            </a:pPr>
            <a:r>
              <a:rPr lang="en-US" sz="1500" dirty="0">
                <a:solidFill>
                  <a:srgbClr val="6E6E73"/>
                </a:solidFill>
              </a:rPr>
              <a:t>Football-Data.co.uk, 2000-01 to 2025-26: scores, shots, corners, cards</a:t>
            </a:r>
            <a:endParaRPr lang="en-US" sz="1500" dirty="0"/>
          </a:p>
        </p:txBody>
      </p:sp>
      <p:sp>
        <p:nvSpPr>
          <p:cNvPr id="10" name="Card 2"/>
          <p:cNvSpPr/>
          <p:nvPr/>
        </p:nvSpPr>
        <p:spPr>
          <a:xfrm>
            <a:off x="6233008" y="1965960"/>
            <a:ext cx="5410048" cy="1691640"/>
          </a:xfrm>
          <a:prstGeom prst="roundRect">
            <a:avLst>
              <a:gd name="adj" fmla="val 9730"/>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11" name="Card 2 dot"/>
          <p:cNvSpPr/>
          <p:nvPr/>
        </p:nvSpPr>
        <p:spPr>
          <a:xfrm>
            <a:off x="6507328" y="2240280"/>
            <a:ext cx="384048" cy="384048"/>
          </a:xfrm>
          <a:prstGeom prst="ellipse">
            <a:avLst/>
          </a:prstGeom>
          <a:solidFill>
            <a:srgbClr val="0071E3"/>
          </a:solidFill>
          <a:ln w="12700">
            <a:solidFill>
              <a:srgbClr val="0071E3"/>
            </a:solidFill>
            <a:prstDash val="solid"/>
          </a:ln>
        </p:spPr>
      </p:sp>
      <p:sp>
        <p:nvSpPr>
          <p:cNvPr id="12" name="Text 9"/>
          <p:cNvSpPr txBox="1"/>
          <p:nvPr/>
        </p:nvSpPr>
        <p:spPr>
          <a:xfrm>
            <a:off x="6507328" y="2240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0"/>
          <p:cNvSpPr txBox="1"/>
          <p:nvPr/>
        </p:nvSpPr>
        <p:spPr>
          <a:xfrm>
            <a:off x="7055968" y="2203704"/>
            <a:ext cx="4312768" cy="457200"/>
          </a:xfrm>
          <a:prstGeom prst="rect">
            <a:avLst/>
          </a:prstGeom>
          <a:noFill/>
          <a:ln/>
        </p:spPr>
        <p:txBody>
          <a:bodyPr wrap="square" lIns="0" tIns="0" rIns="0" bIns="0" rtlCol="0" anchor="ctr">
            <a:normAutofit/>
          </a:bodyPr>
          <a:lstStyle/>
          <a:p>
            <a:pPr indent="0" marL="0">
              <a:buNone/>
            </a:pPr>
            <a:r>
              <a:rPr lang="en-US" sz="1900" b="1" dirty="0">
                <a:solidFill>
                  <a:srgbClr val="1D1D1F"/>
                </a:solidFill>
              </a:rPr>
              <a:t>253,781 player rows</a:t>
            </a:r>
            <a:endParaRPr lang="en-US" sz="1900" dirty="0"/>
          </a:p>
        </p:txBody>
      </p:sp>
      <p:sp>
        <p:nvSpPr>
          <p:cNvPr id="14" name="Text 11"/>
          <p:cNvSpPr txBox="1"/>
          <p:nvPr/>
        </p:nvSpPr>
        <p:spPr>
          <a:xfrm>
            <a:off x="6507328" y="2770632"/>
            <a:ext cx="4861408" cy="731520"/>
          </a:xfrm>
          <a:prstGeom prst="rect">
            <a:avLst/>
          </a:prstGeom>
          <a:noFill/>
          <a:ln/>
        </p:spPr>
        <p:txBody>
          <a:bodyPr wrap="square" lIns="0" tIns="0" rIns="0" bIns="0" rtlCol="0" anchor="t"/>
          <a:lstStyle/>
          <a:p>
            <a:pPr indent="0" marL="0">
              <a:buNone/>
            </a:pPr>
            <a:r>
              <a:rPr lang="en-US" sz="1500" dirty="0">
                <a:solidFill>
                  <a:srgbClr val="6E6E73"/>
                </a:solidFill>
              </a:rPr>
              <a:t>Fantasy Premier League, 2016-17 onwards: minutes, starts, influence</a:t>
            </a:r>
            <a:endParaRPr lang="en-US" sz="1500" dirty="0"/>
          </a:p>
        </p:txBody>
      </p:sp>
      <p:sp>
        <p:nvSpPr>
          <p:cNvPr id="15" name="Card 3"/>
          <p:cNvSpPr/>
          <p:nvPr/>
        </p:nvSpPr>
        <p:spPr>
          <a:xfrm>
            <a:off x="548640" y="3931920"/>
            <a:ext cx="5410048" cy="1691640"/>
          </a:xfrm>
          <a:prstGeom prst="roundRect">
            <a:avLst>
              <a:gd name="adj" fmla="val 9730"/>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16" name="Card 3 dot"/>
          <p:cNvSpPr/>
          <p:nvPr/>
        </p:nvSpPr>
        <p:spPr>
          <a:xfrm>
            <a:off x="822960" y="4206240"/>
            <a:ext cx="384048" cy="384048"/>
          </a:xfrm>
          <a:prstGeom prst="ellipse">
            <a:avLst/>
          </a:prstGeom>
          <a:solidFill>
            <a:srgbClr val="0071E3"/>
          </a:solidFill>
          <a:ln w="12700">
            <a:solidFill>
              <a:srgbClr val="0071E3"/>
            </a:solidFill>
            <a:prstDash val="solid"/>
          </a:ln>
        </p:spPr>
      </p:sp>
      <p:sp>
        <p:nvSpPr>
          <p:cNvPr id="17" name="Text 14"/>
          <p:cNvSpPr txBox="1"/>
          <p:nvPr/>
        </p:nvSpPr>
        <p:spPr>
          <a:xfrm>
            <a:off x="822960" y="4206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8" name="Text 15"/>
          <p:cNvSpPr txBox="1"/>
          <p:nvPr/>
        </p:nvSpPr>
        <p:spPr>
          <a:xfrm>
            <a:off x="1371600" y="4169664"/>
            <a:ext cx="4312768" cy="457200"/>
          </a:xfrm>
          <a:prstGeom prst="rect">
            <a:avLst/>
          </a:prstGeom>
          <a:noFill/>
          <a:ln/>
        </p:spPr>
        <p:txBody>
          <a:bodyPr wrap="square" lIns="0" tIns="0" rIns="0" bIns="0" rtlCol="0" anchor="ctr">
            <a:normAutofit/>
          </a:bodyPr>
          <a:lstStyle/>
          <a:p>
            <a:pPr indent="0" marL="0">
              <a:buNone/>
            </a:pPr>
            <a:r>
              <a:rPr lang="en-US" sz="1900" b="1" dirty="0">
                <a:solidFill>
                  <a:srgbClr val="1D1D1F"/>
                </a:solidFill>
              </a:rPr>
              <a:t>4,207 cup &amp; European games</a:t>
            </a:r>
            <a:endParaRPr lang="en-US" sz="1900" dirty="0"/>
          </a:p>
        </p:txBody>
      </p:sp>
      <p:sp>
        <p:nvSpPr>
          <p:cNvPr id="19" name="Text 16"/>
          <p:cNvSpPr txBox="1"/>
          <p:nvPr/>
        </p:nvSpPr>
        <p:spPr>
          <a:xfrm>
            <a:off x="822960" y="4736592"/>
            <a:ext cx="4861408" cy="731520"/>
          </a:xfrm>
          <a:prstGeom prst="rect">
            <a:avLst/>
          </a:prstGeom>
          <a:noFill/>
          <a:ln/>
        </p:spPr>
        <p:txBody>
          <a:bodyPr wrap="square" lIns="0" tIns="0" rIns="0" bIns="0" rtlCol="0" anchor="t"/>
          <a:lstStyle/>
          <a:p>
            <a:pPr indent="0" marL="0">
              <a:buNone/>
            </a:pPr>
            <a:r>
              <a:rPr lang="en-US" sz="1500" dirty="0">
                <a:solidFill>
                  <a:srgbClr val="6E6E73"/>
                </a:solidFill>
              </a:rPr>
              <a:t>engsoccerdata + openfootball: FA Cup, League Cup, Champions League, Europa League</a:t>
            </a:r>
            <a:endParaRPr lang="en-US" sz="1500" dirty="0"/>
          </a:p>
        </p:txBody>
      </p:sp>
      <p:sp>
        <p:nvSpPr>
          <p:cNvPr id="20" name="Card 4"/>
          <p:cNvSpPr/>
          <p:nvPr/>
        </p:nvSpPr>
        <p:spPr>
          <a:xfrm>
            <a:off x="6233008" y="3931920"/>
            <a:ext cx="5410048" cy="1691640"/>
          </a:xfrm>
          <a:prstGeom prst="roundRect">
            <a:avLst>
              <a:gd name="adj" fmla="val 9730"/>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21" name="Card 4 dot"/>
          <p:cNvSpPr/>
          <p:nvPr/>
        </p:nvSpPr>
        <p:spPr>
          <a:xfrm>
            <a:off x="6507328" y="4206240"/>
            <a:ext cx="384048" cy="384048"/>
          </a:xfrm>
          <a:prstGeom prst="ellipse">
            <a:avLst/>
          </a:prstGeom>
          <a:solidFill>
            <a:srgbClr val="0071E3"/>
          </a:solidFill>
          <a:ln w="12700">
            <a:solidFill>
              <a:srgbClr val="0071E3"/>
            </a:solidFill>
            <a:prstDash val="solid"/>
          </a:ln>
        </p:spPr>
      </p:sp>
      <p:sp>
        <p:nvSpPr>
          <p:cNvPr id="22" name="Text 19"/>
          <p:cNvSpPr txBox="1"/>
          <p:nvPr/>
        </p:nvSpPr>
        <p:spPr>
          <a:xfrm>
            <a:off x="6507328" y="4206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3" name="Text 20"/>
          <p:cNvSpPr txBox="1"/>
          <p:nvPr/>
        </p:nvSpPr>
        <p:spPr>
          <a:xfrm>
            <a:off x="7055968" y="4169664"/>
            <a:ext cx="4312768" cy="457200"/>
          </a:xfrm>
          <a:prstGeom prst="rect">
            <a:avLst/>
          </a:prstGeom>
          <a:noFill/>
          <a:ln/>
        </p:spPr>
        <p:txBody>
          <a:bodyPr wrap="square" lIns="0" tIns="0" rIns="0" bIns="0" rtlCol="0" anchor="ctr">
            <a:normAutofit/>
          </a:bodyPr>
          <a:lstStyle/>
          <a:p>
            <a:pPr indent="0" marL="0">
              <a:buNone/>
            </a:pPr>
            <a:r>
              <a:rPr lang="en-US" sz="1900" b="1" dirty="0">
                <a:solidFill>
                  <a:srgbClr val="1D1D1F"/>
                </a:solidFill>
              </a:rPr>
              <a:t>25,244 internationals</a:t>
            </a:r>
            <a:endParaRPr lang="en-US" sz="1900" dirty="0"/>
          </a:p>
        </p:txBody>
      </p:sp>
      <p:sp>
        <p:nvSpPr>
          <p:cNvPr id="24" name="Text 21"/>
          <p:cNvSpPr txBox="1"/>
          <p:nvPr/>
        </p:nvSpPr>
        <p:spPr>
          <a:xfrm>
            <a:off x="6507328" y="4736592"/>
            <a:ext cx="4861408" cy="731520"/>
          </a:xfrm>
          <a:prstGeom prst="rect">
            <a:avLst/>
          </a:prstGeom>
          <a:noFill/>
          <a:ln/>
        </p:spPr>
        <p:txBody>
          <a:bodyPr wrap="square" lIns="0" tIns="0" rIns="0" bIns="0" rtlCol="0" anchor="t"/>
          <a:lstStyle/>
          <a:p>
            <a:pPr indent="0" marL="0">
              <a:buNone/>
            </a:pPr>
            <a:r>
              <a:rPr lang="en-US" sz="1500" dirty="0">
                <a:solidFill>
                  <a:srgbClr val="6E6E73"/>
                </a:solidFill>
              </a:rPr>
              <a:t>martj42/international_results: to find international breaks</a:t>
            </a:r>
            <a:endParaRPr lang="en-US" sz="1500" dirty="0"/>
          </a:p>
        </p:txBody>
      </p:sp>
      <p:sp>
        <p:nvSpPr>
          <p:cNvPr id="25" name="Body"/>
          <p:cNvSpPr txBox="1"/>
          <p:nvPr/>
        </p:nvSpPr>
        <p:spPr>
          <a:xfrm>
            <a:off x="548640" y="5715000"/>
            <a:ext cx="11094415" cy="457200"/>
          </a:xfrm>
          <a:prstGeom prst="rect">
            <a:avLst/>
          </a:prstGeom>
          <a:noFill/>
          <a:ln/>
        </p:spPr>
        <p:txBody>
          <a:bodyPr wrap="square" lIns="0" tIns="0" rIns="0" bIns="0" rtlCol="0" anchor="t"/>
          <a:lstStyle/>
          <a:p>
            <a:pPr indent="0" marL="0">
              <a:spcAft>
                <a:spcPts val="600"/>
              </a:spcAft>
              <a:buNone/>
            </a:pPr>
            <a:r>
              <a:rPr lang="en-US" sz="1400" dirty="0">
                <a:solidFill>
                  <a:srgbClr val="6E6E73"/>
                </a:solidFill>
              </a:rPr>
              <a:t>Bookmaker odds (98% of matches) are only used to compare against, never as an input</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686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Kicker"/>
          <p:cNvSpPr txBox="1"/>
          <p:nvPr/>
        </p:nvSpPr>
        <p:spPr>
          <a:xfrm>
            <a:off x="548640" y="502920"/>
            <a:ext cx="11094415" cy="365760"/>
          </a:xfrm>
          <a:prstGeom prst="rect">
            <a:avLst/>
          </a:prstGeom>
          <a:noFill/>
          <a:ln/>
        </p:spPr>
        <p:txBody>
          <a:bodyPr wrap="square" lIns="0" tIns="0" rIns="0" bIns="0" rtlCol="0" anchor="ctr"/>
          <a:lstStyle/>
          <a:p>
            <a:pPr indent="0" marL="0">
              <a:buNone/>
            </a:pPr>
            <a:r>
              <a:rPr lang="en-US" sz="1600" b="1" dirty="0">
                <a:solidFill>
                  <a:srgbClr val="0071E3"/>
                </a:solidFill>
              </a:rPr>
              <a:t>Rule number one</a:t>
            </a:r>
            <a:endParaRPr lang="en-US" sz="1600" dirty="0"/>
          </a:p>
        </p:txBody>
      </p:sp>
      <p:sp>
        <p:nvSpPr>
          <p:cNvPr id="4" name="Title"/>
          <p:cNvSpPr txBox="1"/>
          <p:nvPr/>
        </p:nvSpPr>
        <p:spPr>
          <a:xfrm>
            <a:off x="548640" y="886968"/>
            <a:ext cx="11094415" cy="868680"/>
          </a:xfrm>
          <a:prstGeom prst="rect">
            <a:avLst/>
          </a:prstGeom>
          <a:noFill/>
          <a:ln/>
        </p:spPr>
        <p:txBody>
          <a:bodyPr wrap="square" lIns="0" tIns="0" rIns="0" bIns="0" rtlCol="0" anchor="t">
            <a:normAutofit/>
          </a:bodyPr>
          <a:lstStyle/>
          <a:p>
            <a:pPr indent="0" marL="0">
              <a:buNone/>
            </a:pPr>
            <a:r>
              <a:rPr lang="en-US" sz="3600" b="1" dirty="0">
                <a:solidFill>
                  <a:srgbClr val="1D1D1F"/>
                </a:solidFill>
              </a:rPr>
              <a:t>No cheating: only what is known before kick-off</a:t>
            </a:r>
            <a:endParaRPr lang="en-US" sz="3600" dirty="0"/>
          </a:p>
        </p:txBody>
      </p:sp>
      <p:sp>
        <p:nvSpPr>
          <p:cNvPr id="5" name="Point 1"/>
          <p:cNvSpPr/>
          <p:nvPr/>
        </p:nvSpPr>
        <p:spPr>
          <a:xfrm>
            <a:off x="548640" y="2148840"/>
            <a:ext cx="11094415" cy="1051560"/>
          </a:xfrm>
          <a:prstGeom prst="roundRect">
            <a:avLst>
              <a:gd name="adj" fmla="val 15652"/>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6" name="Mark 1"/>
          <p:cNvSpPr/>
          <p:nvPr/>
        </p:nvSpPr>
        <p:spPr>
          <a:xfrm>
            <a:off x="868680" y="2395728"/>
            <a:ext cx="548640" cy="548640"/>
          </a:xfrm>
          <a:prstGeom prst="ellipse">
            <a:avLst/>
          </a:prstGeom>
          <a:solidFill>
            <a:srgbClr val="D12F2F"/>
          </a:solidFill>
          <a:ln w="12700">
            <a:solidFill>
              <a:srgbClr val="D12F2F"/>
            </a:solidFill>
            <a:prstDash val="solid"/>
          </a:ln>
        </p:spPr>
      </p:sp>
      <p:sp>
        <p:nvSpPr>
          <p:cNvPr id="7" name="Text 4"/>
          <p:cNvSpPr txBox="1"/>
          <p:nvPr/>
        </p:nvSpPr>
        <p:spPr>
          <a:xfrm>
            <a:off x="868680" y="2395728"/>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8" name="Text 5"/>
          <p:cNvSpPr txBox="1"/>
          <p:nvPr/>
        </p:nvSpPr>
        <p:spPr>
          <a:xfrm>
            <a:off x="1691640" y="2304288"/>
            <a:ext cx="9631375" cy="731520"/>
          </a:xfrm>
          <a:prstGeom prst="rect">
            <a:avLst/>
          </a:prstGeom>
          <a:noFill/>
          <a:ln/>
        </p:spPr>
        <p:txBody>
          <a:bodyPr wrap="square" lIns="0" tIns="0" rIns="0" bIns="0" rtlCol="0" anchor="ctr"/>
          <a:lstStyle/>
          <a:p>
            <a:pPr indent="0" marL="0">
              <a:buNone/>
            </a:pPr>
            <a:r>
              <a:rPr lang="en-US" sz="2200" dirty="0">
                <a:solidFill>
                  <a:srgbClr val="1D1D1F"/>
                </a:solidFill>
              </a:rPr>
              <a:t>Wrong: using this match's shots to predict this match's result</a:t>
            </a:r>
            <a:endParaRPr lang="en-US" sz="2200" dirty="0"/>
          </a:p>
        </p:txBody>
      </p:sp>
      <p:sp>
        <p:nvSpPr>
          <p:cNvPr id="9" name="Point 2"/>
          <p:cNvSpPr/>
          <p:nvPr/>
        </p:nvSpPr>
        <p:spPr>
          <a:xfrm>
            <a:off x="548640" y="3474720"/>
            <a:ext cx="11094415" cy="1051560"/>
          </a:xfrm>
          <a:prstGeom prst="roundRect">
            <a:avLst>
              <a:gd name="adj" fmla="val 15652"/>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10" name="Mark 2"/>
          <p:cNvSpPr/>
          <p:nvPr/>
        </p:nvSpPr>
        <p:spPr>
          <a:xfrm>
            <a:off x="868680" y="3721608"/>
            <a:ext cx="548640" cy="548640"/>
          </a:xfrm>
          <a:prstGeom prst="ellipse">
            <a:avLst/>
          </a:prstGeom>
          <a:solidFill>
            <a:srgbClr val="1A8A5C"/>
          </a:solidFill>
          <a:ln w="12700">
            <a:solidFill>
              <a:srgbClr val="1A8A5C"/>
            </a:solidFill>
            <a:prstDash val="solid"/>
          </a:ln>
        </p:spPr>
      </p:sp>
      <p:sp>
        <p:nvSpPr>
          <p:cNvPr id="11" name="Text 8"/>
          <p:cNvSpPr txBox="1"/>
          <p:nvPr/>
        </p:nvSpPr>
        <p:spPr>
          <a:xfrm>
            <a:off x="868680" y="3721608"/>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12" name="Text 9"/>
          <p:cNvSpPr txBox="1"/>
          <p:nvPr/>
        </p:nvSpPr>
        <p:spPr>
          <a:xfrm>
            <a:off x="1691640" y="3630168"/>
            <a:ext cx="9631375" cy="731520"/>
          </a:xfrm>
          <a:prstGeom prst="rect">
            <a:avLst/>
          </a:prstGeom>
          <a:noFill/>
          <a:ln/>
        </p:spPr>
        <p:txBody>
          <a:bodyPr wrap="square" lIns="0" tIns="0" rIns="0" bIns="0" rtlCol="0" anchor="ctr"/>
          <a:lstStyle/>
          <a:p>
            <a:pPr indent="0" marL="0">
              <a:buNone/>
            </a:pPr>
            <a:r>
              <a:rPr lang="en-US" sz="2200" dirty="0">
                <a:solidFill>
                  <a:srgbClr val="1D1D1F"/>
                </a:solidFill>
              </a:rPr>
              <a:t>Right: using shots from the team's previous matches</a:t>
            </a:r>
            <a:endParaRPr lang="en-US" sz="2200" dirty="0"/>
          </a:p>
        </p:txBody>
      </p:sp>
      <p:sp>
        <p:nvSpPr>
          <p:cNvPr id="13" name="Point 3"/>
          <p:cNvSpPr/>
          <p:nvPr/>
        </p:nvSpPr>
        <p:spPr>
          <a:xfrm>
            <a:off x="548640" y="4800600"/>
            <a:ext cx="11094415" cy="1051560"/>
          </a:xfrm>
          <a:prstGeom prst="roundRect">
            <a:avLst>
              <a:gd name="adj" fmla="val 15652"/>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14" name="Mark 3"/>
          <p:cNvSpPr/>
          <p:nvPr/>
        </p:nvSpPr>
        <p:spPr>
          <a:xfrm>
            <a:off x="868680" y="5047488"/>
            <a:ext cx="548640" cy="548640"/>
          </a:xfrm>
          <a:prstGeom prst="ellipse">
            <a:avLst/>
          </a:prstGeom>
          <a:solidFill>
            <a:srgbClr val="0071E3"/>
          </a:solidFill>
          <a:ln w="12700">
            <a:solidFill>
              <a:srgbClr val="0071E3"/>
            </a:solidFill>
            <a:prstDash val="solid"/>
          </a:ln>
        </p:spPr>
      </p:sp>
      <p:sp>
        <p:nvSpPr>
          <p:cNvPr id="15" name="Text 12"/>
          <p:cNvSpPr txBox="1"/>
          <p:nvPr/>
        </p:nvSpPr>
        <p:spPr>
          <a:xfrm>
            <a:off x="868680" y="5047488"/>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16" name="Text 13"/>
          <p:cNvSpPr txBox="1"/>
          <p:nvPr/>
        </p:nvSpPr>
        <p:spPr>
          <a:xfrm>
            <a:off x="1691640" y="4956048"/>
            <a:ext cx="9631375" cy="731520"/>
          </a:xfrm>
          <a:prstGeom prst="rect">
            <a:avLst/>
          </a:prstGeom>
          <a:noFill/>
          <a:ln/>
        </p:spPr>
        <p:txBody>
          <a:bodyPr wrap="square" lIns="0" tIns="0" rIns="0" bIns="0" rtlCol="0" anchor="ctr"/>
          <a:lstStyle/>
          <a:p>
            <a:pPr indent="0" marL="0">
              <a:buNone/>
            </a:pPr>
            <a:r>
              <a:rPr lang="en-US" sz="2200" dirty="0">
                <a:solidFill>
                  <a:srgbClr val="1D1D1F"/>
                </a:solidFill>
              </a:rPr>
              <a:t>An automatic test changes results and checks that no earlier input moves</a:t>
            </a:r>
            <a:endParaRPr lang="en-US" sz="2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686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Kicker"/>
          <p:cNvSpPr txBox="1"/>
          <p:nvPr/>
        </p:nvSpPr>
        <p:spPr>
          <a:xfrm>
            <a:off x="548640" y="502920"/>
            <a:ext cx="11094415" cy="365760"/>
          </a:xfrm>
          <a:prstGeom prst="rect">
            <a:avLst/>
          </a:prstGeom>
          <a:noFill/>
          <a:ln/>
        </p:spPr>
        <p:txBody>
          <a:bodyPr wrap="square" lIns="0" tIns="0" rIns="0" bIns="0" rtlCol="0" anchor="ctr"/>
          <a:lstStyle/>
          <a:p>
            <a:pPr indent="0" marL="0">
              <a:buNone/>
            </a:pPr>
            <a:r>
              <a:rPr lang="en-US" sz="1600" b="1" dirty="0">
                <a:solidFill>
                  <a:srgbClr val="0071E3"/>
                </a:solidFill>
              </a:rPr>
              <a:t>Features</a:t>
            </a:r>
            <a:endParaRPr lang="en-US" sz="1600" dirty="0"/>
          </a:p>
        </p:txBody>
      </p:sp>
      <p:sp>
        <p:nvSpPr>
          <p:cNvPr id="4" name="Title"/>
          <p:cNvSpPr txBox="1"/>
          <p:nvPr/>
        </p:nvSpPr>
        <p:spPr>
          <a:xfrm>
            <a:off x="548640" y="886968"/>
            <a:ext cx="11094415" cy="868680"/>
          </a:xfrm>
          <a:prstGeom prst="rect">
            <a:avLst/>
          </a:prstGeom>
          <a:noFill/>
          <a:ln/>
        </p:spPr>
        <p:txBody>
          <a:bodyPr wrap="square" lIns="0" tIns="0" rIns="0" bIns="0" rtlCol="0" anchor="t">
            <a:normAutofit/>
          </a:bodyPr>
          <a:lstStyle/>
          <a:p>
            <a:pPr indent="0" marL="0">
              <a:buNone/>
            </a:pPr>
            <a:r>
              <a:rPr lang="en-US" sz="3600" b="1" dirty="0">
                <a:solidFill>
                  <a:srgbClr val="1D1D1F"/>
                </a:solidFill>
              </a:rPr>
              <a:t>What the model looks at: 49 inputs</a:t>
            </a:r>
            <a:endParaRPr lang="en-US" sz="3600" dirty="0"/>
          </a:p>
        </p:txBody>
      </p:sp>
      <p:sp>
        <p:nvSpPr>
          <p:cNvPr id="5" name="Card 1"/>
          <p:cNvSpPr/>
          <p:nvPr/>
        </p:nvSpPr>
        <p:spPr>
          <a:xfrm>
            <a:off x="548640" y="1965960"/>
            <a:ext cx="3515258" cy="1965960"/>
          </a:xfrm>
          <a:prstGeom prst="roundRect">
            <a:avLst>
              <a:gd name="adj" fmla="val 8372"/>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6" name="Card 1 dot"/>
          <p:cNvSpPr/>
          <p:nvPr/>
        </p:nvSpPr>
        <p:spPr>
          <a:xfrm>
            <a:off x="822960" y="2240280"/>
            <a:ext cx="384048" cy="384048"/>
          </a:xfrm>
          <a:prstGeom prst="ellipse">
            <a:avLst/>
          </a:prstGeom>
          <a:solidFill>
            <a:srgbClr val="0071E3"/>
          </a:solidFill>
          <a:ln w="12700">
            <a:solidFill>
              <a:srgbClr val="0071E3"/>
            </a:solidFill>
            <a:prstDash val="solid"/>
          </a:ln>
        </p:spPr>
      </p:sp>
      <p:sp>
        <p:nvSpPr>
          <p:cNvPr id="7" name="Text 4"/>
          <p:cNvSpPr txBox="1"/>
          <p:nvPr/>
        </p:nvSpPr>
        <p:spPr>
          <a:xfrm>
            <a:off x="822960" y="2240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5"/>
          <p:cNvSpPr txBox="1"/>
          <p:nvPr/>
        </p:nvSpPr>
        <p:spPr>
          <a:xfrm>
            <a:off x="1371600" y="2203704"/>
            <a:ext cx="2417978" cy="457200"/>
          </a:xfrm>
          <a:prstGeom prst="rect">
            <a:avLst/>
          </a:prstGeom>
          <a:noFill/>
          <a:ln/>
        </p:spPr>
        <p:txBody>
          <a:bodyPr wrap="square" lIns="0" tIns="0" rIns="0" bIns="0" rtlCol="0" anchor="ctr">
            <a:normAutofit/>
          </a:bodyPr>
          <a:lstStyle/>
          <a:p>
            <a:pPr indent="0" marL="0">
              <a:buNone/>
            </a:pPr>
            <a:r>
              <a:rPr lang="en-US" sz="1900" b="1" dirty="0">
                <a:solidFill>
                  <a:srgbClr val="1D1D1F"/>
                </a:solidFill>
              </a:rPr>
              <a:t>Elo rating</a:t>
            </a:r>
            <a:endParaRPr lang="en-US" sz="1900" dirty="0"/>
          </a:p>
        </p:txBody>
      </p:sp>
      <p:sp>
        <p:nvSpPr>
          <p:cNvPr id="9" name="Text 6"/>
          <p:cNvSpPr txBox="1"/>
          <p:nvPr/>
        </p:nvSpPr>
        <p:spPr>
          <a:xfrm>
            <a:off x="822960" y="2770632"/>
            <a:ext cx="2966618" cy="1005840"/>
          </a:xfrm>
          <a:prstGeom prst="rect">
            <a:avLst/>
          </a:prstGeom>
          <a:noFill/>
          <a:ln/>
        </p:spPr>
        <p:txBody>
          <a:bodyPr wrap="square" lIns="0" tIns="0" rIns="0" bIns="0" rtlCol="0" anchor="t"/>
          <a:lstStyle/>
          <a:p>
            <a:pPr indent="0" marL="0">
              <a:buNone/>
            </a:pPr>
            <a:r>
              <a:rPr lang="en-US" sz="1500" dirty="0">
                <a:solidFill>
                  <a:srgbClr val="6E6E73"/>
                </a:solidFill>
              </a:rPr>
              <a:t>One strength number per team, updated after every match</a:t>
            </a:r>
            <a:endParaRPr lang="en-US" sz="1500" dirty="0"/>
          </a:p>
        </p:txBody>
      </p:sp>
      <p:sp>
        <p:nvSpPr>
          <p:cNvPr id="10" name="Card 2"/>
          <p:cNvSpPr/>
          <p:nvPr/>
        </p:nvSpPr>
        <p:spPr>
          <a:xfrm>
            <a:off x="4338218" y="1965960"/>
            <a:ext cx="3515258" cy="1965960"/>
          </a:xfrm>
          <a:prstGeom prst="roundRect">
            <a:avLst>
              <a:gd name="adj" fmla="val 8372"/>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11" name="Card 2 dot"/>
          <p:cNvSpPr/>
          <p:nvPr/>
        </p:nvSpPr>
        <p:spPr>
          <a:xfrm>
            <a:off x="4612538" y="2240280"/>
            <a:ext cx="384048" cy="384048"/>
          </a:xfrm>
          <a:prstGeom prst="ellipse">
            <a:avLst/>
          </a:prstGeom>
          <a:solidFill>
            <a:srgbClr val="0071E3"/>
          </a:solidFill>
          <a:ln w="12700">
            <a:solidFill>
              <a:srgbClr val="0071E3"/>
            </a:solidFill>
            <a:prstDash val="solid"/>
          </a:ln>
        </p:spPr>
      </p:sp>
      <p:sp>
        <p:nvSpPr>
          <p:cNvPr id="12" name="Text 9"/>
          <p:cNvSpPr txBox="1"/>
          <p:nvPr/>
        </p:nvSpPr>
        <p:spPr>
          <a:xfrm>
            <a:off x="4612538" y="2240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0"/>
          <p:cNvSpPr txBox="1"/>
          <p:nvPr/>
        </p:nvSpPr>
        <p:spPr>
          <a:xfrm>
            <a:off x="5161178" y="2203704"/>
            <a:ext cx="2417978" cy="457200"/>
          </a:xfrm>
          <a:prstGeom prst="rect">
            <a:avLst/>
          </a:prstGeom>
          <a:noFill/>
          <a:ln/>
        </p:spPr>
        <p:txBody>
          <a:bodyPr wrap="square" lIns="0" tIns="0" rIns="0" bIns="0" rtlCol="0" anchor="ctr">
            <a:normAutofit/>
          </a:bodyPr>
          <a:lstStyle/>
          <a:p>
            <a:pPr indent="0" marL="0">
              <a:buNone/>
            </a:pPr>
            <a:r>
              <a:rPr lang="en-US" sz="1900" b="1" dirty="0">
                <a:solidFill>
                  <a:srgbClr val="1D1D1F"/>
                </a:solidFill>
              </a:rPr>
              <a:t>Recent form</a:t>
            </a:r>
            <a:endParaRPr lang="en-US" sz="1900" dirty="0"/>
          </a:p>
        </p:txBody>
      </p:sp>
      <p:sp>
        <p:nvSpPr>
          <p:cNvPr id="14" name="Text 11"/>
          <p:cNvSpPr txBox="1"/>
          <p:nvPr/>
        </p:nvSpPr>
        <p:spPr>
          <a:xfrm>
            <a:off x="4612538" y="2770632"/>
            <a:ext cx="2966618" cy="1005840"/>
          </a:xfrm>
          <a:prstGeom prst="rect">
            <a:avLst/>
          </a:prstGeom>
          <a:noFill/>
          <a:ln/>
        </p:spPr>
        <p:txBody>
          <a:bodyPr wrap="square" lIns="0" tIns="0" rIns="0" bIns="0" rtlCol="0" anchor="t"/>
          <a:lstStyle/>
          <a:p>
            <a:pPr indent="0" marL="0">
              <a:buNone/>
            </a:pPr>
            <a:r>
              <a:rPr lang="en-US" sz="1500" dirty="0">
                <a:solidFill>
                  <a:srgbClr val="6E6E73"/>
                </a:solidFill>
              </a:rPr>
              <a:t>Points per game in the last 5 matches, home and away</a:t>
            </a:r>
            <a:endParaRPr lang="en-US" sz="1500" dirty="0"/>
          </a:p>
        </p:txBody>
      </p:sp>
      <p:sp>
        <p:nvSpPr>
          <p:cNvPr id="15" name="Card 3"/>
          <p:cNvSpPr/>
          <p:nvPr/>
        </p:nvSpPr>
        <p:spPr>
          <a:xfrm>
            <a:off x="8127797" y="1965960"/>
            <a:ext cx="3515258" cy="1965960"/>
          </a:xfrm>
          <a:prstGeom prst="roundRect">
            <a:avLst>
              <a:gd name="adj" fmla="val 8372"/>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16" name="Card 3 dot"/>
          <p:cNvSpPr/>
          <p:nvPr/>
        </p:nvSpPr>
        <p:spPr>
          <a:xfrm>
            <a:off x="8402117" y="2240280"/>
            <a:ext cx="384048" cy="384048"/>
          </a:xfrm>
          <a:prstGeom prst="ellipse">
            <a:avLst/>
          </a:prstGeom>
          <a:solidFill>
            <a:srgbClr val="0071E3"/>
          </a:solidFill>
          <a:ln w="12700">
            <a:solidFill>
              <a:srgbClr val="0071E3"/>
            </a:solidFill>
            <a:prstDash val="solid"/>
          </a:ln>
        </p:spPr>
      </p:sp>
      <p:sp>
        <p:nvSpPr>
          <p:cNvPr id="17" name="Text 14"/>
          <p:cNvSpPr txBox="1"/>
          <p:nvPr/>
        </p:nvSpPr>
        <p:spPr>
          <a:xfrm>
            <a:off x="8402117" y="2240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8" name="Text 15"/>
          <p:cNvSpPr txBox="1"/>
          <p:nvPr/>
        </p:nvSpPr>
        <p:spPr>
          <a:xfrm>
            <a:off x="8950757" y="2203704"/>
            <a:ext cx="2417978" cy="457200"/>
          </a:xfrm>
          <a:prstGeom prst="rect">
            <a:avLst/>
          </a:prstGeom>
          <a:noFill/>
          <a:ln/>
        </p:spPr>
        <p:txBody>
          <a:bodyPr wrap="square" lIns="0" tIns="0" rIns="0" bIns="0" rtlCol="0" anchor="ctr">
            <a:normAutofit/>
          </a:bodyPr>
          <a:lstStyle/>
          <a:p>
            <a:pPr indent="0" marL="0">
              <a:buNone/>
            </a:pPr>
            <a:r>
              <a:rPr lang="en-US" sz="1900" b="1" dirty="0">
                <a:solidFill>
                  <a:srgbClr val="1D1D1F"/>
                </a:solidFill>
              </a:rPr>
              <a:t>Attack &amp; defence</a:t>
            </a:r>
            <a:endParaRPr lang="en-US" sz="1900" dirty="0"/>
          </a:p>
        </p:txBody>
      </p:sp>
      <p:sp>
        <p:nvSpPr>
          <p:cNvPr id="19" name="Text 16"/>
          <p:cNvSpPr txBox="1"/>
          <p:nvPr/>
        </p:nvSpPr>
        <p:spPr>
          <a:xfrm>
            <a:off x="8402117" y="2770632"/>
            <a:ext cx="2966618" cy="1005840"/>
          </a:xfrm>
          <a:prstGeom prst="rect">
            <a:avLst/>
          </a:prstGeom>
          <a:noFill/>
          <a:ln/>
        </p:spPr>
        <p:txBody>
          <a:bodyPr wrap="square" lIns="0" tIns="0" rIns="0" bIns="0" rtlCol="0" anchor="t"/>
          <a:lstStyle/>
          <a:p>
            <a:pPr indent="0" marL="0">
              <a:buNone/>
            </a:pPr>
            <a:r>
              <a:rPr lang="en-US" sz="1500" dirty="0">
                <a:solidFill>
                  <a:srgbClr val="6E6E73"/>
                </a:solidFill>
              </a:rPr>
              <a:t>Goals, shots and shots on target, recent games count more</a:t>
            </a:r>
            <a:endParaRPr lang="en-US" sz="1500" dirty="0"/>
          </a:p>
        </p:txBody>
      </p:sp>
      <p:sp>
        <p:nvSpPr>
          <p:cNvPr id="20" name="Card 4"/>
          <p:cNvSpPr/>
          <p:nvPr/>
        </p:nvSpPr>
        <p:spPr>
          <a:xfrm>
            <a:off x="548640" y="4206240"/>
            <a:ext cx="3515258" cy="1965960"/>
          </a:xfrm>
          <a:prstGeom prst="roundRect">
            <a:avLst>
              <a:gd name="adj" fmla="val 8372"/>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21" name="Card 4 dot"/>
          <p:cNvSpPr/>
          <p:nvPr/>
        </p:nvSpPr>
        <p:spPr>
          <a:xfrm>
            <a:off x="822960" y="4480560"/>
            <a:ext cx="384048" cy="384048"/>
          </a:xfrm>
          <a:prstGeom prst="ellipse">
            <a:avLst/>
          </a:prstGeom>
          <a:solidFill>
            <a:srgbClr val="0071E3"/>
          </a:solidFill>
          <a:ln w="12700">
            <a:solidFill>
              <a:srgbClr val="0071E3"/>
            </a:solidFill>
            <a:prstDash val="solid"/>
          </a:ln>
        </p:spPr>
      </p:sp>
      <p:sp>
        <p:nvSpPr>
          <p:cNvPr id="22" name="Text 19"/>
          <p:cNvSpPr txBox="1"/>
          <p:nvPr/>
        </p:nvSpPr>
        <p:spPr>
          <a:xfrm>
            <a:off x="822960" y="4480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3" name="Text 20"/>
          <p:cNvSpPr txBox="1"/>
          <p:nvPr/>
        </p:nvSpPr>
        <p:spPr>
          <a:xfrm>
            <a:off x="1371600" y="4443984"/>
            <a:ext cx="2417978" cy="457200"/>
          </a:xfrm>
          <a:prstGeom prst="rect">
            <a:avLst/>
          </a:prstGeom>
          <a:noFill/>
          <a:ln/>
        </p:spPr>
        <p:txBody>
          <a:bodyPr wrap="square" lIns="0" tIns="0" rIns="0" bIns="0" rtlCol="0" anchor="ctr">
            <a:normAutofit/>
          </a:bodyPr>
          <a:lstStyle/>
          <a:p>
            <a:pPr indent="0" marL="0">
              <a:buNone/>
            </a:pPr>
            <a:r>
              <a:rPr lang="en-US" sz="1900" b="1" dirty="0">
                <a:solidFill>
                  <a:srgbClr val="1D1D1F"/>
                </a:solidFill>
              </a:rPr>
              <a:t>League table</a:t>
            </a:r>
            <a:endParaRPr lang="en-US" sz="1900" dirty="0"/>
          </a:p>
        </p:txBody>
      </p:sp>
      <p:sp>
        <p:nvSpPr>
          <p:cNvPr id="24" name="Text 21"/>
          <p:cNvSpPr txBox="1"/>
          <p:nvPr/>
        </p:nvSpPr>
        <p:spPr>
          <a:xfrm>
            <a:off x="822960" y="5010912"/>
            <a:ext cx="2966618" cy="1005840"/>
          </a:xfrm>
          <a:prstGeom prst="rect">
            <a:avLst/>
          </a:prstGeom>
          <a:noFill/>
          <a:ln/>
        </p:spPr>
        <p:txBody>
          <a:bodyPr wrap="square" lIns="0" tIns="0" rIns="0" bIns="0" rtlCol="0" anchor="t"/>
          <a:lstStyle/>
          <a:p>
            <a:pPr indent="0" marL="0">
              <a:buNone/>
            </a:pPr>
            <a:r>
              <a:rPr lang="en-US" sz="1500" dirty="0">
                <a:solidFill>
                  <a:srgbClr val="6E6E73"/>
                </a:solidFill>
              </a:rPr>
              <a:t>Position, points per game and goal difference so far</a:t>
            </a:r>
            <a:endParaRPr lang="en-US" sz="1500" dirty="0"/>
          </a:p>
        </p:txBody>
      </p:sp>
      <p:sp>
        <p:nvSpPr>
          <p:cNvPr id="25" name="Card 5"/>
          <p:cNvSpPr/>
          <p:nvPr/>
        </p:nvSpPr>
        <p:spPr>
          <a:xfrm>
            <a:off x="4338218" y="4206240"/>
            <a:ext cx="3515258" cy="1965960"/>
          </a:xfrm>
          <a:prstGeom prst="roundRect">
            <a:avLst>
              <a:gd name="adj" fmla="val 8372"/>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26" name="Card 5 dot"/>
          <p:cNvSpPr/>
          <p:nvPr/>
        </p:nvSpPr>
        <p:spPr>
          <a:xfrm>
            <a:off x="4612538" y="4480560"/>
            <a:ext cx="384048" cy="384048"/>
          </a:xfrm>
          <a:prstGeom prst="ellipse">
            <a:avLst/>
          </a:prstGeom>
          <a:solidFill>
            <a:srgbClr val="0071E3"/>
          </a:solidFill>
          <a:ln w="12700">
            <a:solidFill>
              <a:srgbClr val="0071E3"/>
            </a:solidFill>
            <a:prstDash val="solid"/>
          </a:ln>
        </p:spPr>
      </p:sp>
      <p:sp>
        <p:nvSpPr>
          <p:cNvPr id="27" name="Text 24"/>
          <p:cNvSpPr txBox="1"/>
          <p:nvPr/>
        </p:nvSpPr>
        <p:spPr>
          <a:xfrm>
            <a:off x="4612538" y="4480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8" name="Text 25"/>
          <p:cNvSpPr txBox="1"/>
          <p:nvPr/>
        </p:nvSpPr>
        <p:spPr>
          <a:xfrm>
            <a:off x="5161178" y="4443984"/>
            <a:ext cx="2417978" cy="457200"/>
          </a:xfrm>
          <a:prstGeom prst="rect">
            <a:avLst/>
          </a:prstGeom>
          <a:noFill/>
          <a:ln/>
        </p:spPr>
        <p:txBody>
          <a:bodyPr wrap="square" lIns="0" tIns="0" rIns="0" bIns="0" rtlCol="0" anchor="ctr">
            <a:normAutofit/>
          </a:bodyPr>
          <a:lstStyle/>
          <a:p>
            <a:pPr indent="0" marL="0">
              <a:buNone/>
            </a:pPr>
            <a:r>
              <a:rPr lang="en-US" sz="1900" b="1" dirty="0">
                <a:solidFill>
                  <a:srgbClr val="1D1D1F"/>
                </a:solidFill>
              </a:rPr>
              <a:t>Last season</a:t>
            </a:r>
            <a:endParaRPr lang="en-US" sz="1900" dirty="0"/>
          </a:p>
        </p:txBody>
      </p:sp>
      <p:sp>
        <p:nvSpPr>
          <p:cNvPr id="29" name="Text 26"/>
          <p:cNvSpPr txBox="1"/>
          <p:nvPr/>
        </p:nvSpPr>
        <p:spPr>
          <a:xfrm>
            <a:off x="4612538" y="5010912"/>
            <a:ext cx="2966618" cy="1005840"/>
          </a:xfrm>
          <a:prstGeom prst="rect">
            <a:avLst/>
          </a:prstGeom>
          <a:noFill/>
          <a:ln/>
        </p:spPr>
        <p:txBody>
          <a:bodyPr wrap="square" lIns="0" tIns="0" rIns="0" bIns="0" rtlCol="0" anchor="t"/>
          <a:lstStyle/>
          <a:p>
            <a:pPr indent="0" marL="0">
              <a:buNone/>
            </a:pPr>
            <a:r>
              <a:rPr lang="en-US" sz="1500" dirty="0">
                <a:solidFill>
                  <a:srgbClr val="6E6E73"/>
                </a:solidFill>
              </a:rPr>
              <a:t>Final position, or newly promoted</a:t>
            </a:r>
            <a:endParaRPr lang="en-US" sz="1500" dirty="0"/>
          </a:p>
        </p:txBody>
      </p:sp>
      <p:sp>
        <p:nvSpPr>
          <p:cNvPr id="30" name="Card 6"/>
          <p:cNvSpPr/>
          <p:nvPr/>
        </p:nvSpPr>
        <p:spPr>
          <a:xfrm>
            <a:off x="8127797" y="4206240"/>
            <a:ext cx="3515258" cy="1965960"/>
          </a:xfrm>
          <a:prstGeom prst="roundRect">
            <a:avLst>
              <a:gd name="adj" fmla="val 8372"/>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31" name="Card 6 dot"/>
          <p:cNvSpPr/>
          <p:nvPr/>
        </p:nvSpPr>
        <p:spPr>
          <a:xfrm>
            <a:off x="8402117" y="4480560"/>
            <a:ext cx="384048" cy="384048"/>
          </a:xfrm>
          <a:prstGeom prst="ellipse">
            <a:avLst/>
          </a:prstGeom>
          <a:solidFill>
            <a:srgbClr val="0071E3"/>
          </a:solidFill>
          <a:ln w="12700">
            <a:solidFill>
              <a:srgbClr val="0071E3"/>
            </a:solidFill>
            <a:prstDash val="solid"/>
          </a:ln>
        </p:spPr>
      </p:sp>
      <p:sp>
        <p:nvSpPr>
          <p:cNvPr id="32" name="Text 29"/>
          <p:cNvSpPr txBox="1"/>
          <p:nvPr/>
        </p:nvSpPr>
        <p:spPr>
          <a:xfrm>
            <a:off x="8402117" y="4480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3" name="Text 30"/>
          <p:cNvSpPr txBox="1"/>
          <p:nvPr/>
        </p:nvSpPr>
        <p:spPr>
          <a:xfrm>
            <a:off x="8950757" y="4443984"/>
            <a:ext cx="2417978" cy="457200"/>
          </a:xfrm>
          <a:prstGeom prst="rect">
            <a:avLst/>
          </a:prstGeom>
          <a:noFill/>
          <a:ln/>
        </p:spPr>
        <p:txBody>
          <a:bodyPr wrap="square" lIns="0" tIns="0" rIns="0" bIns="0" rtlCol="0" anchor="ctr">
            <a:normAutofit/>
          </a:bodyPr>
          <a:lstStyle/>
          <a:p>
            <a:pPr indent="0" marL="0">
              <a:buNone/>
            </a:pPr>
            <a:r>
              <a:rPr lang="en-US" sz="1900" b="1" dirty="0">
                <a:solidFill>
                  <a:srgbClr val="1D1D1F"/>
                </a:solidFill>
              </a:rPr>
              <a:t>Players</a:t>
            </a:r>
            <a:endParaRPr lang="en-US" sz="1900" dirty="0"/>
          </a:p>
        </p:txBody>
      </p:sp>
      <p:sp>
        <p:nvSpPr>
          <p:cNvPr id="34" name="Text 31"/>
          <p:cNvSpPr txBox="1"/>
          <p:nvPr/>
        </p:nvSpPr>
        <p:spPr>
          <a:xfrm>
            <a:off x="8402117" y="5010912"/>
            <a:ext cx="2966618" cy="1005840"/>
          </a:xfrm>
          <a:prstGeom prst="rect">
            <a:avLst/>
          </a:prstGeom>
          <a:noFill/>
          <a:ln/>
        </p:spPr>
        <p:txBody>
          <a:bodyPr wrap="square" lIns="0" tIns="0" rIns="0" bIns="0" rtlCol="0" anchor="t"/>
          <a:lstStyle/>
          <a:p>
            <a:pPr indent="0" marL="0">
              <a:buNone/>
            </a:pPr>
            <a:r>
              <a:rPr lang="en-US" sz="1500" dirty="0">
                <a:solidFill>
                  <a:srgbClr val="6E6E73"/>
                </a:solidFill>
              </a:rPr>
              <a:t>Strength of the expected starting eleven (FPL influence)</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686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Kicker"/>
          <p:cNvSpPr txBox="1"/>
          <p:nvPr/>
        </p:nvSpPr>
        <p:spPr>
          <a:xfrm>
            <a:off x="548640" y="502920"/>
            <a:ext cx="11094415" cy="365760"/>
          </a:xfrm>
          <a:prstGeom prst="rect">
            <a:avLst/>
          </a:prstGeom>
          <a:noFill/>
          <a:ln/>
        </p:spPr>
        <p:txBody>
          <a:bodyPr wrap="square" lIns="0" tIns="0" rIns="0" bIns="0" rtlCol="0" anchor="ctr"/>
          <a:lstStyle/>
          <a:p>
            <a:pPr indent="0" marL="0">
              <a:buNone/>
            </a:pPr>
            <a:r>
              <a:rPr lang="en-US" sz="1600" b="1" dirty="0">
                <a:solidFill>
                  <a:srgbClr val="0071E3"/>
                </a:solidFill>
              </a:rPr>
              <a:t>Elo rating</a:t>
            </a:r>
            <a:endParaRPr lang="en-US" sz="1600" dirty="0"/>
          </a:p>
        </p:txBody>
      </p:sp>
      <p:sp>
        <p:nvSpPr>
          <p:cNvPr id="4" name="Title"/>
          <p:cNvSpPr txBox="1"/>
          <p:nvPr/>
        </p:nvSpPr>
        <p:spPr>
          <a:xfrm>
            <a:off x="548640" y="886968"/>
            <a:ext cx="11094415" cy="868680"/>
          </a:xfrm>
          <a:prstGeom prst="rect">
            <a:avLst/>
          </a:prstGeom>
          <a:noFill/>
          <a:ln/>
        </p:spPr>
        <p:txBody>
          <a:bodyPr wrap="square" lIns="0" tIns="0" rIns="0" bIns="0" rtlCol="0" anchor="t">
            <a:normAutofit/>
          </a:bodyPr>
          <a:lstStyle/>
          <a:p>
            <a:pPr indent="0" marL="0">
              <a:buNone/>
            </a:pPr>
            <a:r>
              <a:rPr lang="en-US" sz="3600" b="1" dirty="0">
                <a:solidFill>
                  <a:srgbClr val="1D1D1F"/>
                </a:solidFill>
              </a:rPr>
              <a:t>One number tells the story of the league</a:t>
            </a:r>
            <a:endParaRPr lang="en-US" sz="3600" dirty="0"/>
          </a:p>
        </p:txBody>
      </p:sp>
      <p:sp>
        <p:nvSpPr>
          <p:cNvPr id="5" name="Chart card"/>
          <p:cNvSpPr/>
          <p:nvPr/>
        </p:nvSpPr>
        <p:spPr>
          <a:xfrm>
            <a:off x="548640" y="1965960"/>
            <a:ext cx="7436815" cy="4206240"/>
          </a:xfrm>
          <a:prstGeom prst="roundRect">
            <a:avLst>
              <a:gd name="adj" fmla="val 3913"/>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graphicFrame>
        <p:nvGraphicFramePr>
          <p:cNvPr id="6" name="Chart" descr=""/>
          <p:cNvGraphicFramePr/>
          <p:nvPr/>
        </p:nvGraphicFramePr>
        <p:xfrm>
          <a:off x="731520" y="2103120"/>
          <a:ext cx="7071055" cy="3931920"/>
        </p:xfrm>
        <a:graphic xmlns:a="http://schemas.openxmlformats.org/drawingml/2006/main">
          <a:graphicData uri="http://schemas.openxmlformats.org/drawingml/2006/chart">
            <c:chart xmlns:c="http://schemas.openxmlformats.org/drawingml/2006/chart" r:id="rId1"/>
          </a:graphicData>
        </a:graphic>
      </p:graphicFrame>
      <p:sp>
        <p:nvSpPr>
          <p:cNvPr id="7" name="Body"/>
          <p:cNvSpPr txBox="1"/>
          <p:nvPr/>
        </p:nvSpPr>
        <p:spPr>
          <a:xfrm>
            <a:off x="8351215" y="2057400"/>
            <a:ext cx="3291840" cy="4023360"/>
          </a:xfrm>
          <a:prstGeom prst="rect">
            <a:avLst/>
          </a:prstGeom>
          <a:noFill/>
          <a:ln/>
        </p:spPr>
        <p:txBody>
          <a:bodyPr wrap="square" lIns="0" tIns="0" rIns="0" bIns="0" rtlCol="0" anchor="t"/>
          <a:lstStyle/>
          <a:p>
            <a:pPr indent="0" marL="0">
              <a:spcAft>
                <a:spcPts val="600"/>
              </a:spcAft>
              <a:buNone/>
            </a:pPr>
            <a:r>
              <a:rPr lang="en-US" sz="1600" dirty="0">
                <a:solidFill>
                  <a:srgbClr val="6E6E73"/>
                </a:solidFill>
              </a:rPr>
              <a:t>Elo expected score = 1 / (1 + 10^(−(home + 50 − away) / 400))</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686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Kicker"/>
          <p:cNvSpPr txBox="1"/>
          <p:nvPr/>
        </p:nvSpPr>
        <p:spPr>
          <a:xfrm>
            <a:off x="548640" y="502920"/>
            <a:ext cx="11094415" cy="365760"/>
          </a:xfrm>
          <a:prstGeom prst="rect">
            <a:avLst/>
          </a:prstGeom>
          <a:noFill/>
          <a:ln/>
        </p:spPr>
        <p:txBody>
          <a:bodyPr wrap="square" lIns="0" tIns="0" rIns="0" bIns="0" rtlCol="0" anchor="ctr"/>
          <a:lstStyle/>
          <a:p>
            <a:pPr indent="0" marL="0">
              <a:buNone/>
            </a:pPr>
            <a:r>
              <a:rPr lang="en-US" sz="1600" b="1" dirty="0">
                <a:solidFill>
                  <a:srgbClr val="0071E3"/>
                </a:solidFill>
              </a:rPr>
              <a:t>Models</a:t>
            </a:r>
            <a:endParaRPr lang="en-US" sz="1600" dirty="0"/>
          </a:p>
        </p:txBody>
      </p:sp>
      <p:sp>
        <p:nvSpPr>
          <p:cNvPr id="4" name="Title"/>
          <p:cNvSpPr txBox="1"/>
          <p:nvPr/>
        </p:nvSpPr>
        <p:spPr>
          <a:xfrm>
            <a:off x="548640" y="886968"/>
            <a:ext cx="11094415" cy="868680"/>
          </a:xfrm>
          <a:prstGeom prst="rect">
            <a:avLst/>
          </a:prstGeom>
          <a:noFill/>
          <a:ln/>
        </p:spPr>
        <p:txBody>
          <a:bodyPr wrap="square" lIns="0" tIns="0" rIns="0" bIns="0" rtlCol="0" anchor="t">
            <a:normAutofit/>
          </a:bodyPr>
          <a:lstStyle/>
          <a:p>
            <a:pPr indent="0" marL="0">
              <a:buNone/>
            </a:pPr>
            <a:r>
              <a:rPr lang="en-US" sz="3600" b="1" dirty="0">
                <a:solidFill>
                  <a:srgbClr val="1D1D1F"/>
                </a:solidFill>
              </a:rPr>
              <a:t>Seven models, from simple to complex</a:t>
            </a:r>
            <a:endParaRPr lang="en-US" sz="3600" dirty="0"/>
          </a:p>
        </p:txBody>
      </p:sp>
      <p:sp>
        <p:nvSpPr>
          <p:cNvPr id="5" name="Card 1"/>
          <p:cNvSpPr/>
          <p:nvPr/>
        </p:nvSpPr>
        <p:spPr>
          <a:xfrm>
            <a:off x="548640" y="1965960"/>
            <a:ext cx="3515258" cy="1691640"/>
          </a:xfrm>
          <a:prstGeom prst="roundRect">
            <a:avLst>
              <a:gd name="adj" fmla="val 9730"/>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6" name="Card 1 dot"/>
          <p:cNvSpPr/>
          <p:nvPr/>
        </p:nvSpPr>
        <p:spPr>
          <a:xfrm>
            <a:off x="822960" y="2240280"/>
            <a:ext cx="384048" cy="384048"/>
          </a:xfrm>
          <a:prstGeom prst="ellipse">
            <a:avLst/>
          </a:prstGeom>
          <a:solidFill>
            <a:srgbClr val="0071E3"/>
          </a:solidFill>
          <a:ln w="12700">
            <a:solidFill>
              <a:srgbClr val="0071E3"/>
            </a:solidFill>
            <a:prstDash val="solid"/>
          </a:ln>
        </p:spPr>
      </p:sp>
      <p:sp>
        <p:nvSpPr>
          <p:cNvPr id="7" name="Text 4"/>
          <p:cNvSpPr txBox="1"/>
          <p:nvPr/>
        </p:nvSpPr>
        <p:spPr>
          <a:xfrm>
            <a:off x="822960" y="2240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5"/>
          <p:cNvSpPr txBox="1"/>
          <p:nvPr/>
        </p:nvSpPr>
        <p:spPr>
          <a:xfrm>
            <a:off x="1371600" y="2203704"/>
            <a:ext cx="2417978" cy="457200"/>
          </a:xfrm>
          <a:prstGeom prst="rect">
            <a:avLst/>
          </a:prstGeom>
          <a:noFill/>
          <a:ln/>
        </p:spPr>
        <p:txBody>
          <a:bodyPr wrap="square" lIns="0" tIns="0" rIns="0" bIns="0" rtlCol="0" anchor="ctr">
            <a:normAutofit/>
          </a:bodyPr>
          <a:lstStyle/>
          <a:p>
            <a:pPr indent="0" marL="0">
              <a:buNone/>
            </a:pPr>
            <a:r>
              <a:rPr lang="en-US" sz="1900" b="1" dirty="0">
                <a:solidFill>
                  <a:srgbClr val="1D1D1F"/>
                </a:solidFill>
              </a:rPr>
              <a:t>Always home win</a:t>
            </a:r>
            <a:endParaRPr lang="en-US" sz="1900" dirty="0"/>
          </a:p>
        </p:txBody>
      </p:sp>
      <p:sp>
        <p:nvSpPr>
          <p:cNvPr id="9" name="Text 6"/>
          <p:cNvSpPr txBox="1"/>
          <p:nvPr/>
        </p:nvSpPr>
        <p:spPr>
          <a:xfrm>
            <a:off x="822960" y="2770632"/>
            <a:ext cx="2966618" cy="731520"/>
          </a:xfrm>
          <a:prstGeom prst="rect">
            <a:avLst/>
          </a:prstGeom>
          <a:noFill/>
          <a:ln/>
        </p:spPr>
        <p:txBody>
          <a:bodyPr wrap="square" lIns="0" tIns="0" rIns="0" bIns="0" rtlCol="0" anchor="t"/>
          <a:lstStyle/>
          <a:p>
            <a:pPr indent="0" marL="0">
              <a:buNone/>
            </a:pPr>
            <a:r>
              <a:rPr lang="en-US" sz="1500" dirty="0">
                <a:solidFill>
                  <a:srgbClr val="6E6E73"/>
                </a:solidFill>
              </a:rPr>
              <a:t>The baseline to beat</a:t>
            </a:r>
            <a:endParaRPr lang="en-US" sz="1500" dirty="0"/>
          </a:p>
        </p:txBody>
      </p:sp>
      <p:sp>
        <p:nvSpPr>
          <p:cNvPr id="10" name="Card 2"/>
          <p:cNvSpPr/>
          <p:nvPr/>
        </p:nvSpPr>
        <p:spPr>
          <a:xfrm>
            <a:off x="4338218" y="1965960"/>
            <a:ext cx="3515258" cy="1691640"/>
          </a:xfrm>
          <a:prstGeom prst="roundRect">
            <a:avLst>
              <a:gd name="adj" fmla="val 9730"/>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11" name="Card 2 dot"/>
          <p:cNvSpPr/>
          <p:nvPr/>
        </p:nvSpPr>
        <p:spPr>
          <a:xfrm>
            <a:off x="4612538" y="2240280"/>
            <a:ext cx="384048" cy="384048"/>
          </a:xfrm>
          <a:prstGeom prst="ellipse">
            <a:avLst/>
          </a:prstGeom>
          <a:solidFill>
            <a:srgbClr val="0071E3"/>
          </a:solidFill>
          <a:ln w="12700">
            <a:solidFill>
              <a:srgbClr val="0071E3"/>
            </a:solidFill>
            <a:prstDash val="solid"/>
          </a:ln>
        </p:spPr>
      </p:sp>
      <p:sp>
        <p:nvSpPr>
          <p:cNvPr id="12" name="Text 9"/>
          <p:cNvSpPr txBox="1"/>
          <p:nvPr/>
        </p:nvSpPr>
        <p:spPr>
          <a:xfrm>
            <a:off x="4612538" y="2240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0"/>
          <p:cNvSpPr txBox="1"/>
          <p:nvPr/>
        </p:nvSpPr>
        <p:spPr>
          <a:xfrm>
            <a:off x="5161178" y="2203704"/>
            <a:ext cx="2417978" cy="457200"/>
          </a:xfrm>
          <a:prstGeom prst="rect">
            <a:avLst/>
          </a:prstGeom>
          <a:noFill/>
          <a:ln/>
        </p:spPr>
        <p:txBody>
          <a:bodyPr wrap="square" lIns="0" tIns="0" rIns="0" bIns="0" rtlCol="0" anchor="ctr">
            <a:normAutofit/>
          </a:bodyPr>
          <a:lstStyle/>
          <a:p>
            <a:pPr indent="0" marL="0">
              <a:buNone/>
            </a:pPr>
            <a:r>
              <a:rPr lang="en-US" sz="1900" b="1" dirty="0">
                <a:solidFill>
                  <a:srgbClr val="1D1D1F"/>
                </a:solidFill>
              </a:rPr>
              <a:t>Elo only</a:t>
            </a:r>
            <a:endParaRPr lang="en-US" sz="1900" dirty="0"/>
          </a:p>
        </p:txBody>
      </p:sp>
      <p:sp>
        <p:nvSpPr>
          <p:cNvPr id="14" name="Text 11"/>
          <p:cNvSpPr txBox="1"/>
          <p:nvPr/>
        </p:nvSpPr>
        <p:spPr>
          <a:xfrm>
            <a:off x="4612538" y="2770632"/>
            <a:ext cx="2966618" cy="731520"/>
          </a:xfrm>
          <a:prstGeom prst="rect">
            <a:avLst/>
          </a:prstGeom>
          <a:noFill/>
          <a:ln/>
        </p:spPr>
        <p:txBody>
          <a:bodyPr wrap="square" lIns="0" tIns="0" rIns="0" bIns="0" rtlCol="0" anchor="t"/>
          <a:lstStyle/>
          <a:p>
            <a:pPr indent="0" marL="0">
              <a:buNone/>
            </a:pPr>
            <a:r>
              <a:rPr lang="en-US" sz="1500" dirty="0">
                <a:solidFill>
                  <a:srgbClr val="6E6E73"/>
                </a:solidFill>
              </a:rPr>
              <a:t>Just the rating difference</a:t>
            </a:r>
            <a:endParaRPr lang="en-US" sz="1500" dirty="0"/>
          </a:p>
        </p:txBody>
      </p:sp>
      <p:sp>
        <p:nvSpPr>
          <p:cNvPr id="15" name="Card 3"/>
          <p:cNvSpPr/>
          <p:nvPr/>
        </p:nvSpPr>
        <p:spPr>
          <a:xfrm>
            <a:off x="8127797" y="1965960"/>
            <a:ext cx="3515258" cy="1691640"/>
          </a:xfrm>
          <a:prstGeom prst="roundRect">
            <a:avLst>
              <a:gd name="adj" fmla="val 9730"/>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16" name="Card 3 dot"/>
          <p:cNvSpPr/>
          <p:nvPr/>
        </p:nvSpPr>
        <p:spPr>
          <a:xfrm>
            <a:off x="8402117" y="2240280"/>
            <a:ext cx="384048" cy="384048"/>
          </a:xfrm>
          <a:prstGeom prst="ellipse">
            <a:avLst/>
          </a:prstGeom>
          <a:solidFill>
            <a:srgbClr val="0071E3"/>
          </a:solidFill>
          <a:ln w="12700">
            <a:solidFill>
              <a:srgbClr val="0071E3"/>
            </a:solidFill>
            <a:prstDash val="solid"/>
          </a:ln>
        </p:spPr>
      </p:sp>
      <p:sp>
        <p:nvSpPr>
          <p:cNvPr id="17" name="Text 14"/>
          <p:cNvSpPr txBox="1"/>
          <p:nvPr/>
        </p:nvSpPr>
        <p:spPr>
          <a:xfrm>
            <a:off x="8402117" y="2240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8" name="Text 15"/>
          <p:cNvSpPr txBox="1"/>
          <p:nvPr/>
        </p:nvSpPr>
        <p:spPr>
          <a:xfrm>
            <a:off x="8950757" y="2203704"/>
            <a:ext cx="2417978" cy="457200"/>
          </a:xfrm>
          <a:prstGeom prst="rect">
            <a:avLst/>
          </a:prstGeom>
          <a:noFill/>
          <a:ln/>
        </p:spPr>
        <p:txBody>
          <a:bodyPr wrap="square" lIns="0" tIns="0" rIns="0" bIns="0" rtlCol="0" anchor="ctr">
            <a:normAutofit/>
          </a:bodyPr>
          <a:lstStyle/>
          <a:p>
            <a:pPr indent="0" marL="0">
              <a:buNone/>
            </a:pPr>
            <a:r>
              <a:rPr lang="en-US" sz="1900" b="1" dirty="0">
                <a:solidFill>
                  <a:srgbClr val="1D1D1F"/>
                </a:solidFill>
              </a:rPr>
              <a:t>Logistic regression</a:t>
            </a:r>
            <a:endParaRPr lang="en-US" sz="1900" dirty="0"/>
          </a:p>
        </p:txBody>
      </p:sp>
      <p:sp>
        <p:nvSpPr>
          <p:cNvPr id="19" name="Text 16"/>
          <p:cNvSpPr txBox="1"/>
          <p:nvPr/>
        </p:nvSpPr>
        <p:spPr>
          <a:xfrm>
            <a:off x="8402117" y="2770632"/>
            <a:ext cx="2966618" cy="731520"/>
          </a:xfrm>
          <a:prstGeom prst="rect">
            <a:avLst/>
          </a:prstGeom>
          <a:noFill/>
          <a:ln/>
        </p:spPr>
        <p:txBody>
          <a:bodyPr wrap="square" lIns="0" tIns="0" rIns="0" bIns="0" rtlCol="0" anchor="t"/>
          <a:lstStyle/>
          <a:p>
            <a:pPr indent="0" marL="0">
              <a:buNone/>
            </a:pPr>
            <a:r>
              <a:rPr lang="en-US" sz="1500" dirty="0">
                <a:solidFill>
                  <a:srgbClr val="6E6E73"/>
                </a:solidFill>
              </a:rPr>
              <a:t>A weighted sum of all inputs</a:t>
            </a:r>
            <a:endParaRPr lang="en-US" sz="1500" dirty="0"/>
          </a:p>
        </p:txBody>
      </p:sp>
      <p:sp>
        <p:nvSpPr>
          <p:cNvPr id="20" name="Card 4"/>
          <p:cNvSpPr/>
          <p:nvPr/>
        </p:nvSpPr>
        <p:spPr>
          <a:xfrm>
            <a:off x="548640" y="3931920"/>
            <a:ext cx="3515258" cy="1691640"/>
          </a:xfrm>
          <a:prstGeom prst="roundRect">
            <a:avLst>
              <a:gd name="adj" fmla="val 9730"/>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21" name="Card 4 dot"/>
          <p:cNvSpPr/>
          <p:nvPr/>
        </p:nvSpPr>
        <p:spPr>
          <a:xfrm>
            <a:off x="822960" y="4206240"/>
            <a:ext cx="384048" cy="384048"/>
          </a:xfrm>
          <a:prstGeom prst="ellipse">
            <a:avLst/>
          </a:prstGeom>
          <a:solidFill>
            <a:srgbClr val="0071E3"/>
          </a:solidFill>
          <a:ln w="12700">
            <a:solidFill>
              <a:srgbClr val="0071E3"/>
            </a:solidFill>
            <a:prstDash val="solid"/>
          </a:ln>
        </p:spPr>
      </p:sp>
      <p:sp>
        <p:nvSpPr>
          <p:cNvPr id="22" name="Text 19"/>
          <p:cNvSpPr txBox="1"/>
          <p:nvPr/>
        </p:nvSpPr>
        <p:spPr>
          <a:xfrm>
            <a:off x="822960" y="4206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3" name="Text 20"/>
          <p:cNvSpPr txBox="1"/>
          <p:nvPr/>
        </p:nvSpPr>
        <p:spPr>
          <a:xfrm>
            <a:off x="1371600" y="4169664"/>
            <a:ext cx="2417978" cy="457200"/>
          </a:xfrm>
          <a:prstGeom prst="rect">
            <a:avLst/>
          </a:prstGeom>
          <a:noFill/>
          <a:ln/>
        </p:spPr>
        <p:txBody>
          <a:bodyPr wrap="square" lIns="0" tIns="0" rIns="0" bIns="0" rtlCol="0" anchor="ctr">
            <a:normAutofit/>
          </a:bodyPr>
          <a:lstStyle/>
          <a:p>
            <a:pPr indent="0" marL="0">
              <a:buNone/>
            </a:pPr>
            <a:r>
              <a:rPr lang="en-US" sz="1900" b="1" dirty="0">
                <a:solidFill>
                  <a:srgbClr val="1D1D1F"/>
                </a:solidFill>
              </a:rPr>
              <a:t>Random forest</a:t>
            </a:r>
            <a:endParaRPr lang="en-US" sz="1900" dirty="0"/>
          </a:p>
        </p:txBody>
      </p:sp>
      <p:sp>
        <p:nvSpPr>
          <p:cNvPr id="24" name="Text 21"/>
          <p:cNvSpPr txBox="1"/>
          <p:nvPr/>
        </p:nvSpPr>
        <p:spPr>
          <a:xfrm>
            <a:off x="822960" y="4736592"/>
            <a:ext cx="2966618" cy="731520"/>
          </a:xfrm>
          <a:prstGeom prst="rect">
            <a:avLst/>
          </a:prstGeom>
          <a:noFill/>
          <a:ln/>
        </p:spPr>
        <p:txBody>
          <a:bodyPr wrap="square" lIns="0" tIns="0" rIns="0" bIns="0" rtlCol="0" anchor="t"/>
          <a:lstStyle/>
          <a:p>
            <a:pPr indent="0" marL="0">
              <a:buNone/>
            </a:pPr>
            <a:r>
              <a:rPr lang="en-US" sz="1500" dirty="0">
                <a:solidFill>
                  <a:srgbClr val="6E6E73"/>
                </a:solidFill>
              </a:rPr>
              <a:t>500 decision trees vote</a:t>
            </a:r>
            <a:endParaRPr lang="en-US" sz="1500" dirty="0"/>
          </a:p>
        </p:txBody>
      </p:sp>
      <p:sp>
        <p:nvSpPr>
          <p:cNvPr id="25" name="Card 5"/>
          <p:cNvSpPr/>
          <p:nvPr/>
        </p:nvSpPr>
        <p:spPr>
          <a:xfrm>
            <a:off x="4338218" y="3931920"/>
            <a:ext cx="3515258" cy="1691640"/>
          </a:xfrm>
          <a:prstGeom prst="roundRect">
            <a:avLst>
              <a:gd name="adj" fmla="val 9730"/>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26" name="Card 5 dot"/>
          <p:cNvSpPr/>
          <p:nvPr/>
        </p:nvSpPr>
        <p:spPr>
          <a:xfrm>
            <a:off x="4612538" y="4206240"/>
            <a:ext cx="384048" cy="384048"/>
          </a:xfrm>
          <a:prstGeom prst="ellipse">
            <a:avLst/>
          </a:prstGeom>
          <a:solidFill>
            <a:srgbClr val="0071E3"/>
          </a:solidFill>
          <a:ln w="12700">
            <a:solidFill>
              <a:srgbClr val="0071E3"/>
            </a:solidFill>
            <a:prstDash val="solid"/>
          </a:ln>
        </p:spPr>
      </p:sp>
      <p:sp>
        <p:nvSpPr>
          <p:cNvPr id="27" name="Text 24"/>
          <p:cNvSpPr txBox="1"/>
          <p:nvPr/>
        </p:nvSpPr>
        <p:spPr>
          <a:xfrm>
            <a:off x="4612538" y="4206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8" name="Text 25"/>
          <p:cNvSpPr txBox="1"/>
          <p:nvPr/>
        </p:nvSpPr>
        <p:spPr>
          <a:xfrm>
            <a:off x="5161178" y="4169664"/>
            <a:ext cx="2417978" cy="457200"/>
          </a:xfrm>
          <a:prstGeom prst="rect">
            <a:avLst/>
          </a:prstGeom>
          <a:noFill/>
          <a:ln/>
        </p:spPr>
        <p:txBody>
          <a:bodyPr wrap="square" lIns="0" tIns="0" rIns="0" bIns="0" rtlCol="0" anchor="ctr">
            <a:normAutofit/>
          </a:bodyPr>
          <a:lstStyle/>
          <a:p>
            <a:pPr indent="0" marL="0">
              <a:buNone/>
            </a:pPr>
            <a:r>
              <a:rPr lang="en-US" sz="1900" b="1" dirty="0">
                <a:solidFill>
                  <a:srgbClr val="1D1D1F"/>
                </a:solidFill>
              </a:rPr>
              <a:t>Gradient boosting</a:t>
            </a:r>
            <a:endParaRPr lang="en-US" sz="1900" dirty="0"/>
          </a:p>
        </p:txBody>
      </p:sp>
      <p:sp>
        <p:nvSpPr>
          <p:cNvPr id="29" name="Text 26"/>
          <p:cNvSpPr txBox="1"/>
          <p:nvPr/>
        </p:nvSpPr>
        <p:spPr>
          <a:xfrm>
            <a:off x="4612538" y="4736592"/>
            <a:ext cx="2966618" cy="731520"/>
          </a:xfrm>
          <a:prstGeom prst="rect">
            <a:avLst/>
          </a:prstGeom>
          <a:noFill/>
          <a:ln/>
        </p:spPr>
        <p:txBody>
          <a:bodyPr wrap="square" lIns="0" tIns="0" rIns="0" bIns="0" rtlCol="0" anchor="t"/>
          <a:lstStyle/>
          <a:p>
            <a:pPr indent="0" marL="0">
              <a:buNone/>
            </a:pPr>
            <a:r>
              <a:rPr lang="en-US" sz="1500" dirty="0">
                <a:solidFill>
                  <a:srgbClr val="6E6E73"/>
                </a:solidFill>
              </a:rPr>
              <a:t>Trees that fix each other's mistakes</a:t>
            </a:r>
            <a:endParaRPr lang="en-US" sz="1500" dirty="0"/>
          </a:p>
        </p:txBody>
      </p:sp>
      <p:sp>
        <p:nvSpPr>
          <p:cNvPr id="30" name="Card 6"/>
          <p:cNvSpPr/>
          <p:nvPr/>
        </p:nvSpPr>
        <p:spPr>
          <a:xfrm>
            <a:off x="8127797" y="3931920"/>
            <a:ext cx="3515258" cy="1691640"/>
          </a:xfrm>
          <a:prstGeom prst="roundRect">
            <a:avLst>
              <a:gd name="adj" fmla="val 9730"/>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31" name="Card 6 dot"/>
          <p:cNvSpPr/>
          <p:nvPr/>
        </p:nvSpPr>
        <p:spPr>
          <a:xfrm>
            <a:off x="8402117" y="4206240"/>
            <a:ext cx="384048" cy="384048"/>
          </a:xfrm>
          <a:prstGeom prst="ellipse">
            <a:avLst/>
          </a:prstGeom>
          <a:solidFill>
            <a:srgbClr val="0071E3"/>
          </a:solidFill>
          <a:ln w="12700">
            <a:solidFill>
              <a:srgbClr val="0071E3"/>
            </a:solidFill>
            <a:prstDash val="solid"/>
          </a:ln>
        </p:spPr>
      </p:sp>
      <p:sp>
        <p:nvSpPr>
          <p:cNvPr id="32" name="Text 29"/>
          <p:cNvSpPr txBox="1"/>
          <p:nvPr/>
        </p:nvSpPr>
        <p:spPr>
          <a:xfrm>
            <a:off x="8402117" y="4206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3" name="Text 30"/>
          <p:cNvSpPr txBox="1"/>
          <p:nvPr/>
        </p:nvSpPr>
        <p:spPr>
          <a:xfrm>
            <a:off x="8950757" y="4169664"/>
            <a:ext cx="2417978" cy="457200"/>
          </a:xfrm>
          <a:prstGeom prst="rect">
            <a:avLst/>
          </a:prstGeom>
          <a:noFill/>
          <a:ln/>
        </p:spPr>
        <p:txBody>
          <a:bodyPr wrap="square" lIns="0" tIns="0" rIns="0" bIns="0" rtlCol="0" anchor="ctr">
            <a:normAutofit/>
          </a:bodyPr>
          <a:lstStyle/>
          <a:p>
            <a:pPr indent="0" marL="0">
              <a:buNone/>
            </a:pPr>
            <a:r>
              <a:rPr lang="en-US" sz="1900" b="1" dirty="0">
                <a:solidFill>
                  <a:srgbClr val="1D1D1F"/>
                </a:solidFill>
              </a:rPr>
              <a:t>Poisson goals model</a:t>
            </a:r>
            <a:endParaRPr lang="en-US" sz="1900" dirty="0"/>
          </a:p>
        </p:txBody>
      </p:sp>
      <p:sp>
        <p:nvSpPr>
          <p:cNvPr id="34" name="Text 31"/>
          <p:cNvSpPr txBox="1"/>
          <p:nvPr/>
        </p:nvSpPr>
        <p:spPr>
          <a:xfrm>
            <a:off x="8402117" y="4736592"/>
            <a:ext cx="2966618" cy="731520"/>
          </a:xfrm>
          <a:prstGeom prst="rect">
            <a:avLst/>
          </a:prstGeom>
          <a:noFill/>
          <a:ln/>
        </p:spPr>
        <p:txBody>
          <a:bodyPr wrap="square" lIns="0" tIns="0" rIns="0" bIns="0" rtlCol="0" anchor="t"/>
          <a:lstStyle/>
          <a:p>
            <a:pPr indent="0" marL="0">
              <a:buNone/>
            </a:pPr>
            <a:r>
              <a:rPr lang="en-US" sz="1500" dirty="0">
                <a:solidFill>
                  <a:srgbClr val="6E6E73"/>
                </a:solidFill>
              </a:rPr>
              <a:t>Predicts goals, then turns goals into results</a:t>
            </a:r>
            <a:endParaRPr lang="en-US" sz="1500" dirty="0"/>
          </a:p>
        </p:txBody>
      </p:sp>
      <p:sp>
        <p:nvSpPr>
          <p:cNvPr id="35" name="Body"/>
          <p:cNvSpPr txBox="1"/>
          <p:nvPr/>
        </p:nvSpPr>
        <p:spPr>
          <a:xfrm>
            <a:off x="548640" y="5715000"/>
            <a:ext cx="11094415" cy="457200"/>
          </a:xfrm>
          <a:prstGeom prst="rect">
            <a:avLst/>
          </a:prstGeom>
          <a:noFill/>
          <a:ln/>
        </p:spPr>
        <p:txBody>
          <a:bodyPr wrap="square" lIns="0" tIns="0" rIns="0" bIns="0" rtlCol="0" anchor="t"/>
          <a:lstStyle/>
          <a:p>
            <a:pPr indent="0" marL="0">
              <a:spcAft>
                <a:spcPts val="600"/>
              </a:spcAft>
              <a:buNone/>
            </a:pPr>
            <a:r>
              <a:rPr lang="en-US" sz="1400" dirty="0">
                <a:solidFill>
                  <a:srgbClr val="6E6E73"/>
                </a:solidFill>
              </a:rPr>
              <a:t>Plus an ensemble that averages three of them. Settings were tuned on 2010-2014 only</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686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Kicker"/>
          <p:cNvSpPr txBox="1"/>
          <p:nvPr/>
        </p:nvSpPr>
        <p:spPr>
          <a:xfrm>
            <a:off x="548640" y="502920"/>
            <a:ext cx="11094415" cy="365760"/>
          </a:xfrm>
          <a:prstGeom prst="rect">
            <a:avLst/>
          </a:prstGeom>
          <a:noFill/>
          <a:ln/>
        </p:spPr>
        <p:txBody>
          <a:bodyPr wrap="square" lIns="0" tIns="0" rIns="0" bIns="0" rtlCol="0" anchor="ctr"/>
          <a:lstStyle/>
          <a:p>
            <a:pPr indent="0" marL="0">
              <a:buNone/>
            </a:pPr>
            <a:r>
              <a:rPr lang="en-US" sz="1600" b="1" dirty="0">
                <a:solidFill>
                  <a:srgbClr val="0071E3"/>
                </a:solidFill>
              </a:rPr>
              <a:t>Fair testing</a:t>
            </a:r>
            <a:endParaRPr lang="en-US" sz="1600" dirty="0"/>
          </a:p>
        </p:txBody>
      </p:sp>
      <p:sp>
        <p:nvSpPr>
          <p:cNvPr id="4" name="Title"/>
          <p:cNvSpPr txBox="1"/>
          <p:nvPr/>
        </p:nvSpPr>
        <p:spPr>
          <a:xfrm>
            <a:off x="548640" y="886968"/>
            <a:ext cx="11094415" cy="868680"/>
          </a:xfrm>
          <a:prstGeom prst="rect">
            <a:avLst/>
          </a:prstGeom>
          <a:noFill/>
          <a:ln/>
        </p:spPr>
        <p:txBody>
          <a:bodyPr wrap="square" lIns="0" tIns="0" rIns="0" bIns="0" rtlCol="0" anchor="t">
            <a:normAutofit/>
          </a:bodyPr>
          <a:lstStyle/>
          <a:p>
            <a:pPr indent="0" marL="0">
              <a:buNone/>
            </a:pPr>
            <a:r>
              <a:rPr lang="en-US" sz="3600" b="1" dirty="0">
                <a:solidFill>
                  <a:srgbClr val="1D1D1F"/>
                </a:solidFill>
              </a:rPr>
              <a:t>Walk-forward: predict each season from the past</a:t>
            </a:r>
            <a:endParaRPr lang="en-US" sz="3600" dirty="0"/>
          </a:p>
        </p:txBody>
      </p:sp>
      <p:sp>
        <p:nvSpPr>
          <p:cNvPr id="5" name="Step 1"/>
          <p:cNvSpPr/>
          <p:nvPr/>
        </p:nvSpPr>
        <p:spPr>
          <a:xfrm>
            <a:off x="548640" y="2240280"/>
            <a:ext cx="3362858" cy="274320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6" name="Text 3"/>
          <p:cNvSpPr txBox="1"/>
          <p:nvPr/>
        </p:nvSpPr>
        <p:spPr>
          <a:xfrm>
            <a:off x="822960" y="2514600"/>
            <a:ext cx="2814218" cy="502920"/>
          </a:xfrm>
          <a:prstGeom prst="rect">
            <a:avLst/>
          </a:prstGeom>
          <a:noFill/>
          <a:ln/>
        </p:spPr>
        <p:txBody>
          <a:bodyPr wrap="square" lIns="0" tIns="0" rIns="0" bIns="0" rtlCol="0" anchor="ctr">
            <a:normAutofit/>
          </a:bodyPr>
          <a:lstStyle/>
          <a:p>
            <a:pPr indent="0" marL="0">
              <a:buNone/>
            </a:pPr>
            <a:r>
              <a:rPr lang="en-US" sz="2100" b="1" dirty="0">
                <a:solidFill>
                  <a:srgbClr val="0071E3"/>
                </a:solidFill>
              </a:rPr>
              <a:t>Train</a:t>
            </a:r>
            <a:endParaRPr lang="en-US" sz="2100" dirty="0"/>
          </a:p>
        </p:txBody>
      </p:sp>
      <p:sp>
        <p:nvSpPr>
          <p:cNvPr id="7" name="Text 4"/>
          <p:cNvSpPr txBox="1"/>
          <p:nvPr/>
        </p:nvSpPr>
        <p:spPr>
          <a:xfrm>
            <a:off x="822960" y="3154680"/>
            <a:ext cx="2814218" cy="1645920"/>
          </a:xfrm>
          <a:prstGeom prst="rect">
            <a:avLst/>
          </a:prstGeom>
          <a:noFill/>
          <a:ln/>
        </p:spPr>
        <p:txBody>
          <a:bodyPr wrap="square" lIns="0" tIns="0" rIns="0" bIns="0" rtlCol="0" anchor="t"/>
          <a:lstStyle/>
          <a:p>
            <a:pPr indent="0" marL="0">
              <a:buNone/>
            </a:pPr>
            <a:r>
              <a:rPr lang="en-US" sz="1700" dirty="0">
                <a:solidFill>
                  <a:srgbClr val="1D1D1F"/>
                </a:solidFill>
              </a:rPr>
              <a:t>On every season before the test season (e.g. 2001-02 to 2013-14)</a:t>
            </a:r>
            <a:endParaRPr lang="en-US" sz="1700" dirty="0"/>
          </a:p>
        </p:txBody>
      </p:sp>
      <p:sp>
        <p:nvSpPr>
          <p:cNvPr id="8" name="Text 5"/>
          <p:cNvSpPr txBox="1"/>
          <p:nvPr/>
        </p:nvSpPr>
        <p:spPr>
          <a:xfrm>
            <a:off x="3911498" y="3337560"/>
            <a:ext cx="502920" cy="548640"/>
          </a:xfrm>
          <a:prstGeom prst="rect">
            <a:avLst/>
          </a:prstGeom>
          <a:noFill/>
          <a:ln/>
        </p:spPr>
        <p:txBody>
          <a:bodyPr wrap="square" lIns="0" tIns="0" rIns="0" bIns="0" rtlCol="0" anchor="ctr"/>
          <a:lstStyle/>
          <a:p>
            <a:pPr algn="ctr" indent="0" marL="0">
              <a:buNone/>
            </a:pPr>
            <a:r>
              <a:rPr lang="en-US" sz="2600" dirty="0">
                <a:solidFill>
                  <a:srgbClr val="86868B"/>
                </a:solidFill>
              </a:rPr>
              <a:t>→</a:t>
            </a:r>
            <a:endParaRPr lang="en-US" sz="2600" dirty="0"/>
          </a:p>
        </p:txBody>
      </p:sp>
      <p:sp>
        <p:nvSpPr>
          <p:cNvPr id="9" name="Step 2"/>
          <p:cNvSpPr/>
          <p:nvPr/>
        </p:nvSpPr>
        <p:spPr>
          <a:xfrm>
            <a:off x="4414418" y="2240280"/>
            <a:ext cx="3362858" cy="274320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10" name="Text 7"/>
          <p:cNvSpPr txBox="1"/>
          <p:nvPr/>
        </p:nvSpPr>
        <p:spPr>
          <a:xfrm>
            <a:off x="4688738" y="2514600"/>
            <a:ext cx="2814218" cy="502920"/>
          </a:xfrm>
          <a:prstGeom prst="rect">
            <a:avLst/>
          </a:prstGeom>
          <a:noFill/>
          <a:ln/>
        </p:spPr>
        <p:txBody>
          <a:bodyPr wrap="square" lIns="0" tIns="0" rIns="0" bIns="0" rtlCol="0" anchor="ctr">
            <a:normAutofit/>
          </a:bodyPr>
          <a:lstStyle/>
          <a:p>
            <a:pPr indent="0" marL="0">
              <a:buNone/>
            </a:pPr>
            <a:r>
              <a:rPr lang="en-US" sz="2100" b="1" dirty="0">
                <a:solidFill>
                  <a:srgbClr val="0071E3"/>
                </a:solidFill>
              </a:rPr>
              <a:t>Predict</a:t>
            </a:r>
            <a:endParaRPr lang="en-US" sz="2100" dirty="0"/>
          </a:p>
        </p:txBody>
      </p:sp>
      <p:sp>
        <p:nvSpPr>
          <p:cNvPr id="11" name="Text 8"/>
          <p:cNvSpPr txBox="1"/>
          <p:nvPr/>
        </p:nvSpPr>
        <p:spPr>
          <a:xfrm>
            <a:off x="4688738" y="3154680"/>
            <a:ext cx="2814218" cy="1645920"/>
          </a:xfrm>
          <a:prstGeom prst="rect">
            <a:avLst/>
          </a:prstGeom>
          <a:noFill/>
          <a:ln/>
        </p:spPr>
        <p:txBody>
          <a:bodyPr wrap="square" lIns="0" tIns="0" rIns="0" bIns="0" rtlCol="0" anchor="t"/>
          <a:lstStyle/>
          <a:p>
            <a:pPr indent="0" marL="0">
              <a:buNone/>
            </a:pPr>
            <a:r>
              <a:rPr lang="en-US" sz="1700" dirty="0">
                <a:solidFill>
                  <a:srgbClr val="1D1D1F"/>
                </a:solidFill>
              </a:rPr>
              <a:t>All 380 matches of the next season, before seeing any of them</a:t>
            </a:r>
            <a:endParaRPr lang="en-US" sz="1700" dirty="0"/>
          </a:p>
        </p:txBody>
      </p:sp>
      <p:sp>
        <p:nvSpPr>
          <p:cNvPr id="12" name="Text 9"/>
          <p:cNvSpPr txBox="1"/>
          <p:nvPr/>
        </p:nvSpPr>
        <p:spPr>
          <a:xfrm>
            <a:off x="7777277" y="3337560"/>
            <a:ext cx="502920" cy="548640"/>
          </a:xfrm>
          <a:prstGeom prst="rect">
            <a:avLst/>
          </a:prstGeom>
          <a:noFill/>
          <a:ln/>
        </p:spPr>
        <p:txBody>
          <a:bodyPr wrap="square" lIns="0" tIns="0" rIns="0" bIns="0" rtlCol="0" anchor="ctr"/>
          <a:lstStyle/>
          <a:p>
            <a:pPr algn="ctr" indent="0" marL="0">
              <a:buNone/>
            </a:pPr>
            <a:r>
              <a:rPr lang="en-US" sz="2600" dirty="0">
                <a:solidFill>
                  <a:srgbClr val="86868B"/>
                </a:solidFill>
              </a:rPr>
              <a:t>→</a:t>
            </a:r>
            <a:endParaRPr lang="en-US" sz="2600" dirty="0"/>
          </a:p>
        </p:txBody>
      </p:sp>
      <p:sp>
        <p:nvSpPr>
          <p:cNvPr id="13" name="Step 3"/>
          <p:cNvSpPr/>
          <p:nvPr/>
        </p:nvSpPr>
        <p:spPr>
          <a:xfrm>
            <a:off x="8280197" y="2240280"/>
            <a:ext cx="3362858" cy="274320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14" name="Text 11"/>
          <p:cNvSpPr txBox="1"/>
          <p:nvPr/>
        </p:nvSpPr>
        <p:spPr>
          <a:xfrm>
            <a:off x="8554517" y="2514600"/>
            <a:ext cx="2814218" cy="502920"/>
          </a:xfrm>
          <a:prstGeom prst="rect">
            <a:avLst/>
          </a:prstGeom>
          <a:noFill/>
          <a:ln/>
        </p:spPr>
        <p:txBody>
          <a:bodyPr wrap="square" lIns="0" tIns="0" rIns="0" bIns="0" rtlCol="0" anchor="ctr">
            <a:normAutofit/>
          </a:bodyPr>
          <a:lstStyle/>
          <a:p>
            <a:pPr indent="0" marL="0">
              <a:buNone/>
            </a:pPr>
            <a:r>
              <a:rPr lang="en-US" sz="2100" b="1" dirty="0">
                <a:solidFill>
                  <a:srgbClr val="0071E3"/>
                </a:solidFill>
              </a:rPr>
              <a:t>Repeat</a:t>
            </a:r>
            <a:endParaRPr lang="en-US" sz="2100" dirty="0"/>
          </a:p>
        </p:txBody>
      </p:sp>
      <p:sp>
        <p:nvSpPr>
          <p:cNvPr id="15" name="Text 12"/>
          <p:cNvSpPr txBox="1"/>
          <p:nvPr/>
        </p:nvSpPr>
        <p:spPr>
          <a:xfrm>
            <a:off x="8554517" y="3154680"/>
            <a:ext cx="2814218" cy="1645920"/>
          </a:xfrm>
          <a:prstGeom prst="rect">
            <a:avLst/>
          </a:prstGeom>
          <a:noFill/>
          <a:ln/>
        </p:spPr>
        <p:txBody>
          <a:bodyPr wrap="square" lIns="0" tIns="0" rIns="0" bIns="0" rtlCol="0" anchor="t"/>
          <a:lstStyle/>
          <a:p>
            <a:pPr indent="0" marL="0">
              <a:buNone/>
            </a:pPr>
            <a:r>
              <a:rPr lang="en-US" sz="1700" dirty="0">
                <a:solidFill>
                  <a:srgbClr val="1D1D1F"/>
                </a:solidFill>
              </a:rPr>
              <a:t>For 12 seasons: 4,560 test matches in total</a:t>
            </a:r>
            <a:endParaRPr lang="en-US" sz="17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686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Kicker"/>
          <p:cNvSpPr txBox="1"/>
          <p:nvPr/>
        </p:nvSpPr>
        <p:spPr>
          <a:xfrm>
            <a:off x="548640" y="502920"/>
            <a:ext cx="11094415" cy="365760"/>
          </a:xfrm>
          <a:prstGeom prst="rect">
            <a:avLst/>
          </a:prstGeom>
          <a:noFill/>
          <a:ln/>
        </p:spPr>
        <p:txBody>
          <a:bodyPr wrap="square" lIns="0" tIns="0" rIns="0" bIns="0" rtlCol="0" anchor="ctr"/>
          <a:lstStyle/>
          <a:p>
            <a:pPr indent="0" marL="0">
              <a:buNone/>
            </a:pPr>
            <a:r>
              <a:rPr lang="en-US" sz="1600" b="1" dirty="0">
                <a:solidFill>
                  <a:srgbClr val="0071E3"/>
                </a:solidFill>
              </a:rPr>
              <a:t>One prediction, step by step</a:t>
            </a:r>
            <a:endParaRPr lang="en-US" sz="1600" dirty="0"/>
          </a:p>
        </p:txBody>
      </p:sp>
      <p:sp>
        <p:nvSpPr>
          <p:cNvPr id="4" name="Title"/>
          <p:cNvSpPr txBox="1"/>
          <p:nvPr/>
        </p:nvSpPr>
        <p:spPr>
          <a:xfrm>
            <a:off x="548640" y="886968"/>
            <a:ext cx="11094415" cy="868680"/>
          </a:xfrm>
          <a:prstGeom prst="rect">
            <a:avLst/>
          </a:prstGeom>
          <a:noFill/>
          <a:ln/>
        </p:spPr>
        <p:txBody>
          <a:bodyPr wrap="square" lIns="0" tIns="0" rIns="0" bIns="0" rtlCol="0" anchor="t">
            <a:normAutofit/>
          </a:bodyPr>
          <a:lstStyle/>
          <a:p>
            <a:pPr indent="0" marL="0">
              <a:buNone/>
            </a:pPr>
            <a:r>
              <a:rPr lang="en-US" sz="3600" b="1" dirty="0">
                <a:solidFill>
                  <a:srgbClr val="1D1D1F"/>
                </a:solidFill>
              </a:rPr>
              <a:t>Arsenal vs Chelsea</a:t>
            </a:r>
            <a:endParaRPr lang="en-US" sz="3600" dirty="0"/>
          </a:p>
        </p:txBody>
      </p:sp>
      <p:sp>
        <p:nvSpPr>
          <p:cNvPr id="5" name="Step 1"/>
          <p:cNvSpPr/>
          <p:nvPr/>
        </p:nvSpPr>
        <p:spPr>
          <a:xfrm>
            <a:off x="548640" y="2240280"/>
            <a:ext cx="3362858" cy="274320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6" name="Text 3"/>
          <p:cNvSpPr txBox="1"/>
          <p:nvPr/>
        </p:nvSpPr>
        <p:spPr>
          <a:xfrm>
            <a:off x="822960" y="2514600"/>
            <a:ext cx="2814218" cy="502920"/>
          </a:xfrm>
          <a:prstGeom prst="rect">
            <a:avLst/>
          </a:prstGeom>
          <a:noFill/>
          <a:ln/>
        </p:spPr>
        <p:txBody>
          <a:bodyPr wrap="square" lIns="0" tIns="0" rIns="0" bIns="0" rtlCol="0" anchor="ctr">
            <a:normAutofit/>
          </a:bodyPr>
          <a:lstStyle/>
          <a:p>
            <a:pPr indent="0" marL="0">
              <a:buNone/>
            </a:pPr>
            <a:r>
              <a:rPr lang="en-US" sz="2100" b="1" dirty="0">
                <a:solidFill>
                  <a:srgbClr val="0071E3"/>
                </a:solidFill>
              </a:rPr>
              <a:t>1 · Expected goals</a:t>
            </a:r>
            <a:endParaRPr lang="en-US" sz="2100" dirty="0"/>
          </a:p>
        </p:txBody>
      </p:sp>
      <p:sp>
        <p:nvSpPr>
          <p:cNvPr id="7" name="Text 4"/>
          <p:cNvSpPr txBox="1"/>
          <p:nvPr/>
        </p:nvSpPr>
        <p:spPr>
          <a:xfrm>
            <a:off x="822960" y="3154680"/>
            <a:ext cx="2814218" cy="1645920"/>
          </a:xfrm>
          <a:prstGeom prst="rect">
            <a:avLst/>
          </a:prstGeom>
          <a:noFill/>
          <a:ln/>
        </p:spPr>
        <p:txBody>
          <a:bodyPr wrap="square" lIns="0" tIns="0" rIns="0" bIns="0" rtlCol="0" anchor="t"/>
          <a:lstStyle/>
          <a:p>
            <a:pPr indent="0" marL="0">
              <a:buNone/>
            </a:pPr>
            <a:r>
              <a:rPr lang="en-US" sz="1700" dirty="0">
                <a:solidFill>
                  <a:srgbClr val="1D1D1F"/>
                </a:solidFill>
              </a:rPr>
              <a:t>Arsenal 1.95, Chelsea 0.78 (average match: 1.47 and 1.13)</a:t>
            </a:r>
            <a:endParaRPr lang="en-US" sz="1700" dirty="0"/>
          </a:p>
        </p:txBody>
      </p:sp>
      <p:sp>
        <p:nvSpPr>
          <p:cNvPr id="8" name="Text 5"/>
          <p:cNvSpPr txBox="1"/>
          <p:nvPr/>
        </p:nvSpPr>
        <p:spPr>
          <a:xfrm>
            <a:off x="3911498" y="3337560"/>
            <a:ext cx="502920" cy="548640"/>
          </a:xfrm>
          <a:prstGeom prst="rect">
            <a:avLst/>
          </a:prstGeom>
          <a:noFill/>
          <a:ln/>
        </p:spPr>
        <p:txBody>
          <a:bodyPr wrap="square" lIns="0" tIns="0" rIns="0" bIns="0" rtlCol="0" anchor="ctr"/>
          <a:lstStyle/>
          <a:p>
            <a:pPr algn="ctr" indent="0" marL="0">
              <a:buNone/>
            </a:pPr>
            <a:r>
              <a:rPr lang="en-US" sz="2600" dirty="0">
                <a:solidFill>
                  <a:srgbClr val="86868B"/>
                </a:solidFill>
              </a:rPr>
              <a:t>→</a:t>
            </a:r>
            <a:endParaRPr lang="en-US" sz="2600" dirty="0"/>
          </a:p>
        </p:txBody>
      </p:sp>
      <p:sp>
        <p:nvSpPr>
          <p:cNvPr id="9" name="Step 2"/>
          <p:cNvSpPr/>
          <p:nvPr/>
        </p:nvSpPr>
        <p:spPr>
          <a:xfrm>
            <a:off x="4414418" y="2240280"/>
            <a:ext cx="3362858" cy="274320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10" name="Text 7"/>
          <p:cNvSpPr txBox="1"/>
          <p:nvPr/>
        </p:nvSpPr>
        <p:spPr>
          <a:xfrm>
            <a:off x="4688738" y="2514600"/>
            <a:ext cx="2814218" cy="502920"/>
          </a:xfrm>
          <a:prstGeom prst="rect">
            <a:avLst/>
          </a:prstGeom>
          <a:noFill/>
          <a:ln/>
        </p:spPr>
        <p:txBody>
          <a:bodyPr wrap="square" lIns="0" tIns="0" rIns="0" bIns="0" rtlCol="0" anchor="ctr">
            <a:normAutofit/>
          </a:bodyPr>
          <a:lstStyle/>
          <a:p>
            <a:pPr indent="0" marL="0">
              <a:buNone/>
            </a:pPr>
            <a:r>
              <a:rPr lang="en-US" sz="2100" b="1" dirty="0">
                <a:solidFill>
                  <a:srgbClr val="0071E3"/>
                </a:solidFill>
              </a:rPr>
              <a:t>2 · Poisson</a:t>
            </a:r>
            <a:endParaRPr lang="en-US" sz="2100" dirty="0"/>
          </a:p>
        </p:txBody>
      </p:sp>
      <p:sp>
        <p:nvSpPr>
          <p:cNvPr id="11" name="Text 8"/>
          <p:cNvSpPr txBox="1"/>
          <p:nvPr/>
        </p:nvSpPr>
        <p:spPr>
          <a:xfrm>
            <a:off x="4688738" y="3154680"/>
            <a:ext cx="2814218" cy="1645920"/>
          </a:xfrm>
          <a:prstGeom prst="rect">
            <a:avLst/>
          </a:prstGeom>
          <a:noFill/>
          <a:ln/>
        </p:spPr>
        <p:txBody>
          <a:bodyPr wrap="square" lIns="0" tIns="0" rIns="0" bIns="0" rtlCol="0" anchor="t"/>
          <a:lstStyle/>
          <a:p>
            <a:pPr indent="0" marL="0">
              <a:buNone/>
            </a:pPr>
            <a:r>
              <a:rPr lang="en-US" sz="1700" dirty="0">
                <a:solidFill>
                  <a:srgbClr val="1D1D1F"/>
                </a:solidFill>
              </a:rPr>
              <a:t>Chance of each number of goals, e.g. Arsenal scores exactly 2: 27.0%</a:t>
            </a:r>
            <a:endParaRPr lang="en-US" sz="1700" dirty="0"/>
          </a:p>
        </p:txBody>
      </p:sp>
      <p:sp>
        <p:nvSpPr>
          <p:cNvPr id="12" name="Text 9"/>
          <p:cNvSpPr txBox="1"/>
          <p:nvPr/>
        </p:nvSpPr>
        <p:spPr>
          <a:xfrm>
            <a:off x="7777277" y="3337560"/>
            <a:ext cx="502920" cy="548640"/>
          </a:xfrm>
          <a:prstGeom prst="rect">
            <a:avLst/>
          </a:prstGeom>
          <a:noFill/>
          <a:ln/>
        </p:spPr>
        <p:txBody>
          <a:bodyPr wrap="square" lIns="0" tIns="0" rIns="0" bIns="0" rtlCol="0" anchor="ctr"/>
          <a:lstStyle/>
          <a:p>
            <a:pPr algn="ctr" indent="0" marL="0">
              <a:buNone/>
            </a:pPr>
            <a:r>
              <a:rPr lang="en-US" sz="2600" dirty="0">
                <a:solidFill>
                  <a:srgbClr val="86868B"/>
                </a:solidFill>
              </a:rPr>
              <a:t>→</a:t>
            </a:r>
            <a:endParaRPr lang="en-US" sz="2600" dirty="0"/>
          </a:p>
        </p:txBody>
      </p:sp>
      <p:sp>
        <p:nvSpPr>
          <p:cNvPr id="13" name="Step 3"/>
          <p:cNvSpPr/>
          <p:nvPr/>
        </p:nvSpPr>
        <p:spPr>
          <a:xfrm>
            <a:off x="8280197" y="2240280"/>
            <a:ext cx="3362858" cy="274320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14" name="Text 11"/>
          <p:cNvSpPr txBox="1"/>
          <p:nvPr/>
        </p:nvSpPr>
        <p:spPr>
          <a:xfrm>
            <a:off x="8554517" y="2514600"/>
            <a:ext cx="2814218" cy="502920"/>
          </a:xfrm>
          <a:prstGeom prst="rect">
            <a:avLst/>
          </a:prstGeom>
          <a:noFill/>
          <a:ln/>
        </p:spPr>
        <p:txBody>
          <a:bodyPr wrap="square" lIns="0" tIns="0" rIns="0" bIns="0" rtlCol="0" anchor="ctr">
            <a:normAutofit/>
          </a:bodyPr>
          <a:lstStyle/>
          <a:p>
            <a:pPr indent="0" marL="0">
              <a:buNone/>
            </a:pPr>
            <a:r>
              <a:rPr lang="en-US" sz="2100" b="1" dirty="0">
                <a:solidFill>
                  <a:srgbClr val="0071E3"/>
                </a:solidFill>
              </a:rPr>
              <a:t>3 · Add up scores</a:t>
            </a:r>
            <a:endParaRPr lang="en-US" sz="2100" dirty="0"/>
          </a:p>
        </p:txBody>
      </p:sp>
      <p:sp>
        <p:nvSpPr>
          <p:cNvPr id="15" name="Text 12"/>
          <p:cNvSpPr txBox="1"/>
          <p:nvPr/>
        </p:nvSpPr>
        <p:spPr>
          <a:xfrm>
            <a:off x="8554517" y="3154680"/>
            <a:ext cx="2814218" cy="1645920"/>
          </a:xfrm>
          <a:prstGeom prst="rect">
            <a:avLst/>
          </a:prstGeom>
          <a:noFill/>
          <a:ln/>
        </p:spPr>
        <p:txBody>
          <a:bodyPr wrap="square" lIns="0" tIns="0" rIns="0" bIns="0" rtlCol="0" anchor="t"/>
          <a:lstStyle/>
          <a:p>
            <a:pPr indent="0" marL="0">
              <a:buNone/>
            </a:pPr>
            <a:r>
              <a:rPr lang="en-US" sz="1700" dirty="0">
                <a:solidFill>
                  <a:srgbClr val="1D1D1F"/>
                </a:solidFill>
              </a:rPr>
              <a:t>Arsenal win 65% · draw 21% · Chelsea win 14%</a:t>
            </a:r>
            <a:endParaRPr lang="en-US" sz="17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686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Kicker"/>
          <p:cNvSpPr txBox="1"/>
          <p:nvPr/>
        </p:nvSpPr>
        <p:spPr>
          <a:xfrm>
            <a:off x="548640" y="502920"/>
            <a:ext cx="11094415" cy="365760"/>
          </a:xfrm>
          <a:prstGeom prst="rect">
            <a:avLst/>
          </a:prstGeom>
          <a:noFill/>
          <a:ln/>
        </p:spPr>
        <p:txBody>
          <a:bodyPr wrap="square" lIns="0" tIns="0" rIns="0" bIns="0" rtlCol="0" anchor="ctr"/>
          <a:lstStyle/>
          <a:p>
            <a:pPr indent="0" marL="0">
              <a:buNone/>
            </a:pPr>
            <a:r>
              <a:rPr lang="en-US" sz="1600" b="1" dirty="0">
                <a:solidFill>
                  <a:srgbClr val="0071E3"/>
                </a:solidFill>
              </a:rPr>
              <a:t>Results</a:t>
            </a:r>
            <a:endParaRPr lang="en-US" sz="1600" dirty="0"/>
          </a:p>
        </p:txBody>
      </p:sp>
      <p:sp>
        <p:nvSpPr>
          <p:cNvPr id="4" name="Title"/>
          <p:cNvSpPr txBox="1"/>
          <p:nvPr/>
        </p:nvSpPr>
        <p:spPr>
          <a:xfrm>
            <a:off x="548640" y="886968"/>
            <a:ext cx="11094415" cy="868680"/>
          </a:xfrm>
          <a:prstGeom prst="rect">
            <a:avLst/>
          </a:prstGeom>
          <a:noFill/>
          <a:ln/>
        </p:spPr>
        <p:txBody>
          <a:bodyPr wrap="square" lIns="0" tIns="0" rIns="0" bIns="0" rtlCol="0" anchor="t">
            <a:normAutofit/>
          </a:bodyPr>
          <a:lstStyle/>
          <a:p>
            <a:pPr indent="0" marL="0">
              <a:buNone/>
            </a:pPr>
            <a:r>
              <a:rPr lang="en-US" sz="3600" b="1" dirty="0">
                <a:solidFill>
                  <a:srgbClr val="1D1D1F"/>
                </a:solidFill>
              </a:rPr>
              <a:t>Poisson goals model: 53.6% accuracy</a:t>
            </a:r>
            <a:endParaRPr lang="en-US" sz="3600" dirty="0"/>
          </a:p>
        </p:txBody>
      </p:sp>
      <p:sp>
        <p:nvSpPr>
          <p:cNvPr id="5" name="Chart card"/>
          <p:cNvSpPr/>
          <p:nvPr/>
        </p:nvSpPr>
        <p:spPr>
          <a:xfrm>
            <a:off x="548640" y="1965960"/>
            <a:ext cx="7436815" cy="4206240"/>
          </a:xfrm>
          <a:prstGeom prst="roundRect">
            <a:avLst>
              <a:gd name="adj" fmla="val 3913"/>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graphicFrame>
        <p:nvGraphicFramePr>
          <p:cNvPr id="6" name="Chart" descr=""/>
          <p:cNvGraphicFramePr/>
          <p:nvPr/>
        </p:nvGraphicFramePr>
        <p:xfrm>
          <a:off x="731520" y="2103120"/>
          <a:ext cx="7071055" cy="3931920"/>
        </p:xfrm>
        <a:graphic xmlns:a="http://schemas.openxmlformats.org/drawingml/2006/main">
          <a:graphicData uri="http://schemas.openxmlformats.org/drawingml/2006/chart">
            <c:chart xmlns:c="http://schemas.openxmlformats.org/drawingml/2006/chart" r:id="rId1"/>
          </a:graphicData>
        </a:graphic>
      </p:graphicFrame>
      <p:sp>
        <p:nvSpPr>
          <p:cNvPr id="7" name="Body"/>
          <p:cNvSpPr txBox="1"/>
          <p:nvPr/>
        </p:nvSpPr>
        <p:spPr>
          <a:xfrm>
            <a:off x="8351215" y="2057400"/>
            <a:ext cx="3291840" cy="4023360"/>
          </a:xfrm>
          <a:prstGeom prst="rect">
            <a:avLst/>
          </a:prstGeom>
          <a:noFill/>
          <a:ln/>
        </p:spPr>
        <p:txBody>
          <a:bodyPr wrap="square" lIns="0" tIns="0" rIns="0" bIns="0" rtlCol="0" anchor="t"/>
          <a:lstStyle/>
          <a:p>
            <a:pPr indent="0" marL="0">
              <a:spcAft>
                <a:spcPts val="600"/>
              </a:spcAft>
              <a:buNone/>
            </a:pPr>
            <a:r>
              <a:rPr lang="en-US" sz="1600" dirty="0">
                <a:solidFill>
                  <a:srgbClr val="6E6E73"/>
                </a:solidFill>
              </a:rPr>
              <a:t>Always home win: 44.4% · Bookmaker: 54.7% · 4,560 test matches</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686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Kicker"/>
          <p:cNvSpPr txBox="1"/>
          <p:nvPr/>
        </p:nvSpPr>
        <p:spPr>
          <a:xfrm>
            <a:off x="548640" y="502920"/>
            <a:ext cx="11094415" cy="365760"/>
          </a:xfrm>
          <a:prstGeom prst="rect">
            <a:avLst/>
          </a:prstGeom>
          <a:noFill/>
          <a:ln/>
        </p:spPr>
        <p:txBody>
          <a:bodyPr wrap="square" lIns="0" tIns="0" rIns="0" bIns="0" rtlCol="0" anchor="ctr"/>
          <a:lstStyle/>
          <a:p>
            <a:pPr indent="0" marL="0">
              <a:buNone/>
            </a:pPr>
            <a:r>
              <a:rPr lang="en-US" sz="1600" b="1" dirty="0">
                <a:solidFill>
                  <a:srgbClr val="0071E3"/>
                </a:solidFill>
              </a:rPr>
              <a:t>Season by season</a:t>
            </a:r>
            <a:endParaRPr lang="en-US" sz="1600" dirty="0"/>
          </a:p>
        </p:txBody>
      </p:sp>
      <p:sp>
        <p:nvSpPr>
          <p:cNvPr id="4" name="Title"/>
          <p:cNvSpPr txBox="1"/>
          <p:nvPr/>
        </p:nvSpPr>
        <p:spPr>
          <a:xfrm>
            <a:off x="548640" y="886968"/>
            <a:ext cx="11094415" cy="868680"/>
          </a:xfrm>
          <a:prstGeom prst="rect">
            <a:avLst/>
          </a:prstGeom>
          <a:noFill/>
          <a:ln/>
        </p:spPr>
        <p:txBody>
          <a:bodyPr wrap="square" lIns="0" tIns="0" rIns="0" bIns="0" rtlCol="0" anchor="t">
            <a:normAutofit/>
          </a:bodyPr>
          <a:lstStyle/>
          <a:p>
            <a:pPr indent="0" marL="0">
              <a:buNone/>
            </a:pPr>
            <a:r>
              <a:rPr lang="en-US" sz="3600" b="1" dirty="0">
                <a:solidFill>
                  <a:srgbClr val="1D1D1F"/>
                </a:solidFill>
              </a:rPr>
              <a:t>Close to the bookmaker every season</a:t>
            </a:r>
            <a:endParaRPr lang="en-US" sz="3600" dirty="0"/>
          </a:p>
        </p:txBody>
      </p:sp>
      <p:sp>
        <p:nvSpPr>
          <p:cNvPr id="5" name="Chart card"/>
          <p:cNvSpPr/>
          <p:nvPr/>
        </p:nvSpPr>
        <p:spPr>
          <a:xfrm>
            <a:off x="548640" y="1965960"/>
            <a:ext cx="7436815" cy="4206240"/>
          </a:xfrm>
          <a:prstGeom prst="roundRect">
            <a:avLst>
              <a:gd name="adj" fmla="val 3913"/>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graphicFrame>
        <p:nvGraphicFramePr>
          <p:cNvPr id="6" name="Chart" descr=""/>
          <p:cNvGraphicFramePr/>
          <p:nvPr/>
        </p:nvGraphicFramePr>
        <p:xfrm>
          <a:off x="731520" y="2103120"/>
          <a:ext cx="7071055" cy="3931920"/>
        </p:xfrm>
        <a:graphic xmlns:a="http://schemas.openxmlformats.org/drawingml/2006/main">
          <a:graphicData uri="http://schemas.openxmlformats.org/drawingml/2006/chart">
            <c:chart xmlns:c="http://schemas.openxmlformats.org/drawingml/2006/chart" r:id="rId1"/>
          </a:graphicData>
        </a:graphic>
      </p:graphicFrame>
      <p:sp>
        <p:nvSpPr>
          <p:cNvPr id="7" name="Body"/>
          <p:cNvSpPr txBox="1"/>
          <p:nvPr/>
        </p:nvSpPr>
        <p:spPr>
          <a:xfrm>
            <a:off x="8351215" y="2057400"/>
            <a:ext cx="3291840" cy="4023360"/>
          </a:xfrm>
          <a:prstGeom prst="rect">
            <a:avLst/>
          </a:prstGeom>
          <a:noFill/>
          <a:ln/>
        </p:spPr>
        <p:txBody>
          <a:bodyPr wrap="square" lIns="0" tIns="0" rIns="0" bIns="0" rtlCol="0" anchor="t"/>
          <a:lstStyle/>
          <a:p>
            <a:pPr indent="0" marL="0">
              <a:spcAft>
                <a:spcPts val="600"/>
              </a:spcAft>
              <a:buNone/>
            </a:pPr>
            <a:r>
              <a:rPr lang="en-US" sz="1600" dirty="0">
                <a:solidFill>
                  <a:srgbClr val="6E6E73"/>
                </a:solidFill>
              </a:rPr>
              <a:t>Hardest: 2015-16 (45.8%) · easiest: 2016-17 (58.9%)</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686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Kicker"/>
          <p:cNvSpPr txBox="1"/>
          <p:nvPr/>
        </p:nvSpPr>
        <p:spPr>
          <a:xfrm>
            <a:off x="548640" y="502920"/>
            <a:ext cx="11094415" cy="365760"/>
          </a:xfrm>
          <a:prstGeom prst="rect">
            <a:avLst/>
          </a:prstGeom>
          <a:noFill/>
          <a:ln/>
        </p:spPr>
        <p:txBody>
          <a:bodyPr wrap="square" lIns="0" tIns="0" rIns="0" bIns="0" rtlCol="0" anchor="ctr"/>
          <a:lstStyle/>
          <a:p>
            <a:pPr indent="0" marL="0">
              <a:buNone/>
            </a:pPr>
            <a:r>
              <a:rPr lang="en-US" sz="1600" b="1" dirty="0">
                <a:solidFill>
                  <a:srgbClr val="0071E3"/>
                </a:solidFill>
              </a:rPr>
              <a:t>Evaluation</a:t>
            </a:r>
            <a:endParaRPr lang="en-US" sz="1600" dirty="0"/>
          </a:p>
        </p:txBody>
      </p:sp>
      <p:sp>
        <p:nvSpPr>
          <p:cNvPr id="4" name="Title"/>
          <p:cNvSpPr txBox="1"/>
          <p:nvPr/>
        </p:nvSpPr>
        <p:spPr>
          <a:xfrm>
            <a:off x="548640" y="886968"/>
            <a:ext cx="11094415" cy="868680"/>
          </a:xfrm>
          <a:prstGeom prst="rect">
            <a:avLst/>
          </a:prstGeom>
          <a:noFill/>
          <a:ln/>
        </p:spPr>
        <p:txBody>
          <a:bodyPr wrap="square" lIns="0" tIns="0" rIns="0" bIns="0" rtlCol="0" anchor="t">
            <a:normAutofit/>
          </a:bodyPr>
          <a:lstStyle/>
          <a:p>
            <a:pPr indent="0" marL="0">
              <a:buNone/>
            </a:pPr>
            <a:r>
              <a:rPr lang="en-US" sz="3600" b="1" dirty="0">
                <a:solidFill>
                  <a:srgbClr val="1D1D1F"/>
                </a:solidFill>
              </a:rPr>
              <a:t>Precision, recall and F1 score</a:t>
            </a:r>
            <a:endParaRPr lang="en-US" sz="36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2218883"/>
                <a:gridCol w="2218883"/>
                <a:gridCol w="2218883"/>
                <a:gridCol w="2218883"/>
                <a:gridCol w="2218883"/>
              </a:tblGrid>
              <a:tr h="566928">
                <a:tc>
                  <a:txBody>
                    <a:bodyPr/>
                    <a:lstStyle/>
                    <a:p>
                      <a:pPr algn="l" indent="0" marL="0">
                        <a:buNone/>
                      </a:pPr>
                      <a:r>
                        <a:rPr lang="en-US" sz="1600" b="1" dirty="0">
                          <a:solidFill>
                            <a:srgbClr val="6E6E73"/>
                          </a:solidFill>
                          <a:latin typeface="Arial" pitchFamily="34" charset="0"/>
                          <a:ea typeface="Arial" pitchFamily="34" charset="-122"/>
                          <a:cs typeface="Arial" pitchFamily="34" charset="-120"/>
                        </a:rPr>
                        <a:t>Outcome</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EDEDF0"/>
                    </a:solidFill>
                  </a:tcPr>
                </a:tc>
                <a:tc>
                  <a:txBody>
                    <a:bodyPr/>
                    <a:lstStyle/>
                    <a:p>
                      <a:pPr algn="r" indent="0" marL="0">
                        <a:buNone/>
                      </a:pPr>
                      <a:r>
                        <a:rPr lang="en-US" sz="1600" b="1" dirty="0">
                          <a:solidFill>
                            <a:srgbClr val="6E6E73"/>
                          </a:solidFill>
                          <a:latin typeface="Arial" pitchFamily="34" charset="0"/>
                          <a:ea typeface="Arial" pitchFamily="34" charset="-122"/>
                          <a:cs typeface="Arial" pitchFamily="34" charset="-120"/>
                        </a:rPr>
                        <a:t>Precision</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EDEDF0"/>
                    </a:solidFill>
                  </a:tcPr>
                </a:tc>
                <a:tc>
                  <a:txBody>
                    <a:bodyPr/>
                    <a:lstStyle/>
                    <a:p>
                      <a:pPr algn="r" indent="0" marL="0">
                        <a:buNone/>
                      </a:pPr>
                      <a:r>
                        <a:rPr lang="en-US" sz="1600" b="1" dirty="0">
                          <a:solidFill>
                            <a:srgbClr val="6E6E73"/>
                          </a:solidFill>
                          <a:latin typeface="Arial" pitchFamily="34" charset="0"/>
                          <a:ea typeface="Arial" pitchFamily="34" charset="-122"/>
                          <a:cs typeface="Arial" pitchFamily="34" charset="-120"/>
                        </a:rPr>
                        <a:t>Recall</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EDEDF0"/>
                    </a:solidFill>
                  </a:tcPr>
                </a:tc>
                <a:tc>
                  <a:txBody>
                    <a:bodyPr/>
                    <a:lstStyle/>
                    <a:p>
                      <a:pPr algn="r" indent="0" marL="0">
                        <a:buNone/>
                      </a:pPr>
                      <a:r>
                        <a:rPr lang="en-US" sz="1600" b="1" dirty="0">
                          <a:solidFill>
                            <a:srgbClr val="6E6E73"/>
                          </a:solidFill>
                          <a:latin typeface="Arial" pitchFamily="34" charset="0"/>
                          <a:ea typeface="Arial" pitchFamily="34" charset="-122"/>
                          <a:cs typeface="Arial" pitchFamily="34" charset="-120"/>
                        </a:rPr>
                        <a:t>F1 score</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EDEDF0"/>
                    </a:solidFill>
                  </a:tcPr>
                </a:tc>
                <a:tc>
                  <a:txBody>
                    <a:bodyPr/>
                    <a:lstStyle/>
                    <a:p>
                      <a:pPr algn="r" indent="0" marL="0">
                        <a:buNone/>
                      </a:pPr>
                      <a:r>
                        <a:rPr lang="en-US" sz="1600" b="1" dirty="0">
                          <a:solidFill>
                            <a:srgbClr val="6E6E73"/>
                          </a:solidFill>
                          <a:latin typeface="Arial" pitchFamily="34" charset="0"/>
                          <a:ea typeface="Arial" pitchFamily="34" charset="-122"/>
                          <a:cs typeface="Arial" pitchFamily="34" charset="-120"/>
                        </a:rPr>
                        <a:t>Matches</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EDEDF0"/>
                    </a:solidFill>
                  </a:tcPr>
                </a:tc>
              </a:tr>
              <a:tr h="566928">
                <a:tc>
                  <a:txBody>
                    <a:bodyPr/>
                    <a:lstStyle/>
                    <a:p>
                      <a:pPr algn="l" indent="0" marL="0">
                        <a:buNone/>
                      </a:pPr>
                      <a:r>
                        <a:rPr lang="en-US" sz="1600" b="1" dirty="0">
                          <a:solidFill>
                            <a:srgbClr val="1D1D1F"/>
                          </a:solidFill>
                          <a:latin typeface="Arial" pitchFamily="34" charset="0"/>
                          <a:ea typeface="Arial" pitchFamily="34" charset="-122"/>
                          <a:cs typeface="Arial" pitchFamily="34" charset="-120"/>
                        </a:rPr>
                        <a:t>Home win</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D1D1F"/>
                          </a:solidFill>
                          <a:latin typeface="Arial" pitchFamily="34" charset="0"/>
                          <a:ea typeface="Arial" pitchFamily="34" charset="-122"/>
                          <a:cs typeface="Arial" pitchFamily="34" charset="-120"/>
                        </a:rPr>
                        <a:t>0.56</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D1D1F"/>
                          </a:solidFill>
                          <a:latin typeface="Arial" pitchFamily="34" charset="0"/>
                          <a:ea typeface="Arial" pitchFamily="34" charset="-122"/>
                          <a:cs typeface="Arial" pitchFamily="34" charset="-120"/>
                        </a:rPr>
                        <a:t>0.80</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D1D1F"/>
                          </a:solidFill>
                          <a:latin typeface="Arial" pitchFamily="34" charset="0"/>
                          <a:ea typeface="Arial" pitchFamily="34" charset="-122"/>
                          <a:cs typeface="Arial" pitchFamily="34" charset="-120"/>
                        </a:rPr>
                        <a:t>0.65</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D1D1F"/>
                          </a:solidFill>
                          <a:latin typeface="Arial" pitchFamily="34" charset="0"/>
                          <a:ea typeface="Arial" pitchFamily="34" charset="-122"/>
                          <a:cs typeface="Arial" pitchFamily="34" charset="-120"/>
                        </a:rPr>
                        <a:t>1,336</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r h="566928">
                <a:tc>
                  <a:txBody>
                    <a:bodyPr/>
                    <a:lstStyle/>
                    <a:p>
                      <a:pPr algn="l" indent="0" marL="0">
                        <a:buNone/>
                      </a:pPr>
                      <a:r>
                        <a:rPr lang="en-US" sz="1600" b="1" dirty="0">
                          <a:solidFill>
                            <a:srgbClr val="1D1D1F"/>
                          </a:solidFill>
                          <a:latin typeface="Arial" pitchFamily="34" charset="0"/>
                          <a:ea typeface="Arial" pitchFamily="34" charset="-122"/>
                          <a:cs typeface="Arial" pitchFamily="34" charset="-120"/>
                        </a:rPr>
                        <a:t>Draw</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D1D1F"/>
                          </a:solidFill>
                          <a:latin typeface="Arial" pitchFamily="34" charset="0"/>
                          <a:ea typeface="Arial" pitchFamily="34" charset="-122"/>
                          <a:cs typeface="Arial" pitchFamily="34" charset="-120"/>
                        </a:rPr>
                        <a:t>0.00</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D1D1F"/>
                          </a:solidFill>
                          <a:latin typeface="Arial" pitchFamily="34" charset="0"/>
                          <a:ea typeface="Arial" pitchFamily="34" charset="-122"/>
                          <a:cs typeface="Arial" pitchFamily="34" charset="-120"/>
                        </a:rPr>
                        <a:t>0.00</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D1D1F"/>
                          </a:solidFill>
                          <a:latin typeface="Arial" pitchFamily="34" charset="0"/>
                          <a:ea typeface="Arial" pitchFamily="34" charset="-122"/>
                          <a:cs typeface="Arial" pitchFamily="34" charset="-120"/>
                        </a:rPr>
                        <a:t>0.00</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D1D1F"/>
                          </a:solidFill>
                          <a:latin typeface="Arial" pitchFamily="34" charset="0"/>
                          <a:ea typeface="Arial" pitchFamily="34" charset="-122"/>
                          <a:cs typeface="Arial" pitchFamily="34" charset="-120"/>
                        </a:rPr>
                        <a:t>700</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r h="566928">
                <a:tc>
                  <a:txBody>
                    <a:bodyPr/>
                    <a:lstStyle/>
                    <a:p>
                      <a:pPr algn="l" indent="0" marL="0">
                        <a:buNone/>
                      </a:pPr>
                      <a:r>
                        <a:rPr lang="en-US" sz="1600" b="1" dirty="0">
                          <a:solidFill>
                            <a:srgbClr val="1D1D1F"/>
                          </a:solidFill>
                          <a:latin typeface="Arial" pitchFamily="34" charset="0"/>
                          <a:ea typeface="Arial" pitchFamily="34" charset="-122"/>
                          <a:cs typeface="Arial" pitchFamily="34" charset="-120"/>
                        </a:rPr>
                        <a:t>Away win</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D1D1F"/>
                          </a:solidFill>
                          <a:latin typeface="Arial" pitchFamily="34" charset="0"/>
                          <a:ea typeface="Arial" pitchFamily="34" charset="-122"/>
                          <a:cs typeface="Arial" pitchFamily="34" charset="-120"/>
                        </a:rPr>
                        <a:t>0.52</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D1D1F"/>
                          </a:solidFill>
                          <a:latin typeface="Arial" pitchFamily="34" charset="0"/>
                          <a:ea typeface="Arial" pitchFamily="34" charset="-122"/>
                          <a:cs typeface="Arial" pitchFamily="34" charset="-120"/>
                        </a:rPr>
                        <a:t>0.59</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D1D1F"/>
                          </a:solidFill>
                          <a:latin typeface="Arial" pitchFamily="34" charset="0"/>
                          <a:ea typeface="Arial" pitchFamily="34" charset="-122"/>
                          <a:cs typeface="Arial" pitchFamily="34" charset="-120"/>
                        </a:rPr>
                        <a:t>0.55</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D1D1F"/>
                          </a:solidFill>
                          <a:latin typeface="Arial" pitchFamily="34" charset="0"/>
                          <a:ea typeface="Arial" pitchFamily="34" charset="-122"/>
                          <a:cs typeface="Arial" pitchFamily="34" charset="-120"/>
                        </a:rPr>
                        <a:t>1,004</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r h="566928">
                <a:tc>
                  <a:txBody>
                    <a:bodyPr/>
                    <a:lstStyle/>
                    <a:p>
                      <a:pPr algn="l" indent="0" marL="0">
                        <a:buNone/>
                      </a:pPr>
                      <a:r>
                        <a:rPr lang="en-US" sz="1600" b="1" dirty="0">
                          <a:solidFill>
                            <a:srgbClr val="1D1D1F"/>
                          </a:solidFill>
                          <a:latin typeface="Arial" pitchFamily="34" charset="0"/>
                          <a:ea typeface="Arial" pitchFamily="34" charset="-122"/>
                          <a:cs typeface="Arial" pitchFamily="34" charset="-120"/>
                        </a:rPr>
                        <a:t>Accuracy</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r" indent="0" marL="0">
                        <a:buNone/>
                      </a:pP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r" indent="0" marL="0">
                        <a:buNone/>
                      </a:pP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D1D1F"/>
                          </a:solidFill>
                          <a:latin typeface="Arial" pitchFamily="34" charset="0"/>
                          <a:ea typeface="Arial" pitchFamily="34" charset="-122"/>
                          <a:cs typeface="Arial" pitchFamily="34" charset="-120"/>
                        </a:rPr>
                        <a:t>0.544</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D1D1F"/>
                          </a:solidFill>
                          <a:latin typeface="Arial" pitchFamily="34" charset="0"/>
                          <a:ea typeface="Arial" pitchFamily="34" charset="-122"/>
                          <a:cs typeface="Arial" pitchFamily="34" charset="-120"/>
                        </a:rPr>
                        <a:t>3,040</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bl>
          </a:graphicData>
        </a:graphic>
      </p:graphicFrame>
      <p:sp>
        <p:nvSpPr>
          <p:cNvPr id="6" name="Body"/>
          <p:cNvSpPr txBox="1"/>
          <p:nvPr/>
        </p:nvSpPr>
        <p:spPr>
          <a:xfrm>
            <a:off x="548640" y="5257800"/>
            <a:ext cx="11094415" cy="82296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6E6E73"/>
                </a:solidFill>
              </a:rPr>
              <a:t>Draw recall is 0.00: a draw is almost never the single most likely result</a:t>
            </a:r>
            <a:endParaRPr lang="en-US" sz="1500" dirty="0"/>
          </a:p>
          <a:p>
            <a:pPr marL="228600" indent="-228600">
              <a:spcAft>
                <a:spcPts val="600"/>
              </a:spcAft>
              <a:buSzPct val="100000"/>
              <a:buChar char="•"/>
            </a:pPr>
            <a:r>
              <a:rPr lang="en-US" sz="1500" dirty="0">
                <a:solidFill>
                  <a:srgbClr val="6E6E73"/>
                </a:solidFill>
              </a:rPr>
              <a:t>Precision: when it picks X, how often is it right? Recall: of all real X, how many did it pick?</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686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Kicker"/>
          <p:cNvSpPr txBox="1"/>
          <p:nvPr/>
        </p:nvSpPr>
        <p:spPr>
          <a:xfrm>
            <a:off x="548640" y="502920"/>
            <a:ext cx="11094415" cy="365760"/>
          </a:xfrm>
          <a:prstGeom prst="rect">
            <a:avLst/>
          </a:prstGeom>
          <a:noFill/>
          <a:ln/>
        </p:spPr>
        <p:txBody>
          <a:bodyPr wrap="square" lIns="0" tIns="0" rIns="0" bIns="0" rtlCol="0" anchor="ctr"/>
          <a:lstStyle/>
          <a:p>
            <a:pPr indent="0" marL="0">
              <a:buNone/>
            </a:pPr>
            <a:r>
              <a:rPr lang="en-US" sz="1600" b="1" dirty="0">
                <a:solidFill>
                  <a:srgbClr val="0071E3"/>
                </a:solidFill>
              </a:rPr>
              <a:t>Probability quality</a:t>
            </a:r>
            <a:endParaRPr lang="en-US" sz="1600" dirty="0"/>
          </a:p>
        </p:txBody>
      </p:sp>
      <p:sp>
        <p:nvSpPr>
          <p:cNvPr id="4" name="Title"/>
          <p:cNvSpPr txBox="1"/>
          <p:nvPr/>
        </p:nvSpPr>
        <p:spPr>
          <a:xfrm>
            <a:off x="548640" y="886968"/>
            <a:ext cx="11094415" cy="868680"/>
          </a:xfrm>
          <a:prstGeom prst="rect">
            <a:avLst/>
          </a:prstGeom>
          <a:noFill/>
          <a:ln/>
        </p:spPr>
        <p:txBody>
          <a:bodyPr wrap="square" lIns="0" tIns="0" rIns="0" bIns="0" rtlCol="0" anchor="t">
            <a:normAutofit/>
          </a:bodyPr>
          <a:lstStyle/>
          <a:p>
            <a:pPr indent="0" marL="0">
              <a:buNone/>
            </a:pPr>
            <a:r>
              <a:rPr lang="en-US" sz="3600" b="1" dirty="0">
                <a:solidFill>
                  <a:srgbClr val="1D1D1F"/>
                </a:solidFill>
              </a:rPr>
              <a:t>Judging the probabilities, not just the pick</a:t>
            </a:r>
            <a:endParaRPr lang="en-US" sz="3600" dirty="0"/>
          </a:p>
        </p:txBody>
      </p:sp>
      <p:sp>
        <p:nvSpPr>
          <p:cNvPr id="5" name="Stat 1"/>
          <p:cNvSpPr/>
          <p:nvPr/>
        </p:nvSpPr>
        <p:spPr>
          <a:xfrm>
            <a:off x="548640" y="1965960"/>
            <a:ext cx="3484778" cy="2103120"/>
          </a:xfrm>
          <a:prstGeom prst="roundRect">
            <a:avLst>
              <a:gd name="adj" fmla="val 7826"/>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6" name="Text 3"/>
          <p:cNvSpPr txBox="1"/>
          <p:nvPr/>
        </p:nvSpPr>
        <p:spPr>
          <a:xfrm>
            <a:off x="822960" y="2240280"/>
            <a:ext cx="2936138" cy="914400"/>
          </a:xfrm>
          <a:prstGeom prst="rect">
            <a:avLst/>
          </a:prstGeom>
          <a:noFill/>
          <a:ln/>
        </p:spPr>
        <p:txBody>
          <a:bodyPr wrap="square" lIns="0" tIns="0" rIns="0" bIns="0" rtlCol="0" anchor="ctr"/>
          <a:lstStyle/>
          <a:p>
            <a:pPr indent="0" marL="0">
              <a:buNone/>
            </a:pPr>
            <a:r>
              <a:rPr lang="en-US" sz="4800" b="1" dirty="0">
                <a:solidFill>
                  <a:srgbClr val="2A78D6"/>
                </a:solidFill>
              </a:rPr>
              <a:t>0.968</a:t>
            </a:r>
            <a:endParaRPr lang="en-US" sz="4800" dirty="0"/>
          </a:p>
        </p:txBody>
      </p:sp>
      <p:sp>
        <p:nvSpPr>
          <p:cNvPr id="7" name="Text 4"/>
          <p:cNvSpPr txBox="1"/>
          <p:nvPr/>
        </p:nvSpPr>
        <p:spPr>
          <a:xfrm>
            <a:off x="822960" y="3200400"/>
            <a:ext cx="2936138" cy="731520"/>
          </a:xfrm>
          <a:prstGeom prst="rect">
            <a:avLst/>
          </a:prstGeom>
          <a:noFill/>
          <a:ln/>
        </p:spPr>
        <p:txBody>
          <a:bodyPr wrap="square" lIns="0" tIns="0" rIns="0" bIns="0" rtlCol="0" anchor="t"/>
          <a:lstStyle/>
          <a:p>
            <a:pPr indent="0" marL="0">
              <a:buNone/>
            </a:pPr>
            <a:r>
              <a:rPr lang="en-US" sz="1500" dirty="0">
                <a:solidFill>
                  <a:srgbClr val="6E6E73"/>
                </a:solidFill>
              </a:rPr>
              <a:t>Log loss (bookmaker 0.959, guessing 1.099)</a:t>
            </a:r>
            <a:endParaRPr lang="en-US" sz="1500" dirty="0"/>
          </a:p>
        </p:txBody>
      </p:sp>
      <p:sp>
        <p:nvSpPr>
          <p:cNvPr id="8" name="Stat 2"/>
          <p:cNvSpPr/>
          <p:nvPr/>
        </p:nvSpPr>
        <p:spPr>
          <a:xfrm>
            <a:off x="4353458" y="1965960"/>
            <a:ext cx="3484778" cy="2103120"/>
          </a:xfrm>
          <a:prstGeom prst="roundRect">
            <a:avLst>
              <a:gd name="adj" fmla="val 7826"/>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9" name="Text 6"/>
          <p:cNvSpPr txBox="1"/>
          <p:nvPr/>
        </p:nvSpPr>
        <p:spPr>
          <a:xfrm>
            <a:off x="4627778" y="2240280"/>
            <a:ext cx="2936138" cy="914400"/>
          </a:xfrm>
          <a:prstGeom prst="rect">
            <a:avLst/>
          </a:prstGeom>
          <a:noFill/>
          <a:ln/>
        </p:spPr>
        <p:txBody>
          <a:bodyPr wrap="square" lIns="0" tIns="0" rIns="0" bIns="0" rtlCol="0" anchor="ctr"/>
          <a:lstStyle/>
          <a:p>
            <a:pPr indent="0" marL="0">
              <a:buNone/>
            </a:pPr>
            <a:r>
              <a:rPr lang="en-US" sz="4800" b="1" dirty="0">
                <a:solidFill>
                  <a:srgbClr val="1D1D1F"/>
                </a:solidFill>
              </a:rPr>
              <a:t>0.1998</a:t>
            </a:r>
            <a:endParaRPr lang="en-US" sz="4800" dirty="0"/>
          </a:p>
        </p:txBody>
      </p:sp>
      <p:sp>
        <p:nvSpPr>
          <p:cNvPr id="10" name="Text 7"/>
          <p:cNvSpPr txBox="1"/>
          <p:nvPr/>
        </p:nvSpPr>
        <p:spPr>
          <a:xfrm>
            <a:off x="4627778" y="3200400"/>
            <a:ext cx="2936138" cy="731520"/>
          </a:xfrm>
          <a:prstGeom prst="rect">
            <a:avLst/>
          </a:prstGeom>
          <a:noFill/>
          <a:ln/>
        </p:spPr>
        <p:txBody>
          <a:bodyPr wrap="square" lIns="0" tIns="0" rIns="0" bIns="0" rtlCol="0" anchor="t"/>
          <a:lstStyle/>
          <a:p>
            <a:pPr indent="0" marL="0">
              <a:buNone/>
            </a:pPr>
            <a:r>
              <a:rPr lang="en-US" sz="1500" dirty="0">
                <a:solidFill>
                  <a:srgbClr val="6E6E73"/>
                </a:solidFill>
              </a:rPr>
              <a:t>RPS (bookmaker 0.1966, always home 0.2349)</a:t>
            </a:r>
            <a:endParaRPr lang="en-US" sz="1500" dirty="0"/>
          </a:p>
        </p:txBody>
      </p:sp>
      <p:sp>
        <p:nvSpPr>
          <p:cNvPr id="11" name="Stat 3"/>
          <p:cNvSpPr/>
          <p:nvPr/>
        </p:nvSpPr>
        <p:spPr>
          <a:xfrm>
            <a:off x="8158277" y="1965960"/>
            <a:ext cx="3484778" cy="2103120"/>
          </a:xfrm>
          <a:prstGeom prst="roundRect">
            <a:avLst>
              <a:gd name="adj" fmla="val 7826"/>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12" name="Text 9"/>
          <p:cNvSpPr txBox="1"/>
          <p:nvPr/>
        </p:nvSpPr>
        <p:spPr>
          <a:xfrm>
            <a:off x="8432597" y="2240280"/>
            <a:ext cx="2936138" cy="914400"/>
          </a:xfrm>
          <a:prstGeom prst="rect">
            <a:avLst/>
          </a:prstGeom>
          <a:noFill/>
          <a:ln/>
        </p:spPr>
        <p:txBody>
          <a:bodyPr wrap="square" lIns="0" tIns="0" rIns="0" bIns="0" rtlCol="0" anchor="ctr"/>
          <a:lstStyle/>
          <a:p>
            <a:pPr indent="0" marL="0">
              <a:buNone/>
            </a:pPr>
            <a:r>
              <a:rPr lang="en-US" sz="4800" b="1" dirty="0">
                <a:solidFill>
                  <a:srgbClr val="1D1D1F"/>
                </a:solidFill>
              </a:rPr>
              <a:t>0.670</a:t>
            </a:r>
            <a:endParaRPr lang="en-US" sz="4800" dirty="0"/>
          </a:p>
        </p:txBody>
      </p:sp>
      <p:sp>
        <p:nvSpPr>
          <p:cNvPr id="13" name="Text 10"/>
          <p:cNvSpPr txBox="1"/>
          <p:nvPr/>
        </p:nvSpPr>
        <p:spPr>
          <a:xfrm>
            <a:off x="8432597" y="3200400"/>
            <a:ext cx="2936138" cy="731520"/>
          </a:xfrm>
          <a:prstGeom prst="rect">
            <a:avLst/>
          </a:prstGeom>
          <a:noFill/>
          <a:ln/>
        </p:spPr>
        <p:txBody>
          <a:bodyPr wrap="square" lIns="0" tIns="0" rIns="0" bIns="0" rtlCol="0" anchor="t"/>
          <a:lstStyle/>
          <a:p>
            <a:pPr indent="0" marL="0">
              <a:buNone/>
            </a:pPr>
            <a:r>
              <a:rPr lang="en-US" sz="1500" dirty="0">
                <a:solidFill>
                  <a:srgbClr val="6E6E73"/>
                </a:solidFill>
              </a:rPr>
              <a:t>AUC (0.5 = guessing, 1 = perfect)</a:t>
            </a:r>
            <a:endParaRPr lang="en-US" sz="1500" dirty="0"/>
          </a:p>
        </p:txBody>
      </p:sp>
      <p:sp>
        <p:nvSpPr>
          <p:cNvPr id="14" name="Body"/>
          <p:cNvSpPr txBox="1"/>
          <p:nvPr/>
        </p:nvSpPr>
        <p:spPr>
          <a:xfrm>
            <a:off x="548640" y="4434840"/>
            <a:ext cx="11094415" cy="1737360"/>
          </a:xfrm>
          <a:prstGeom prst="rect">
            <a:avLst/>
          </a:prstGeom>
          <a:noFill/>
          <a:ln/>
        </p:spPr>
        <p:txBody>
          <a:bodyPr wrap="square" lIns="0" tIns="0" rIns="0" bIns="0" rtlCol="0" anchor="t"/>
          <a:lstStyle/>
          <a:p>
            <a:pPr indent="0" marL="0">
              <a:spcAft>
                <a:spcPts val="600"/>
              </a:spcAft>
              <a:buNone/>
            </a:pPr>
            <a:r>
              <a:rPr lang="en-US" sz="1600" dirty="0">
                <a:solidFill>
                  <a:srgbClr val="6E6E73"/>
                </a:solidFill>
              </a:rPr>
              <a:t>Lower log loss and RPS are better; the probabilities are well calibrated (60% happens about 60% of the time)</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686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Kicker"/>
          <p:cNvSpPr txBox="1"/>
          <p:nvPr/>
        </p:nvSpPr>
        <p:spPr>
          <a:xfrm>
            <a:off x="548640" y="502920"/>
            <a:ext cx="11094415" cy="365760"/>
          </a:xfrm>
          <a:prstGeom prst="rect">
            <a:avLst/>
          </a:prstGeom>
          <a:noFill/>
          <a:ln/>
        </p:spPr>
        <p:txBody>
          <a:bodyPr wrap="square" lIns="0" tIns="0" rIns="0" bIns="0" rtlCol="0" anchor="ctr"/>
          <a:lstStyle/>
          <a:p>
            <a:pPr indent="0" marL="0">
              <a:buNone/>
            </a:pPr>
            <a:r>
              <a:rPr lang="en-US" sz="1600" b="1" dirty="0">
                <a:solidFill>
                  <a:srgbClr val="0071E3"/>
                </a:solidFill>
              </a:rPr>
              <a:t>Extra data</a:t>
            </a:r>
            <a:endParaRPr lang="en-US" sz="1600" dirty="0"/>
          </a:p>
        </p:txBody>
      </p:sp>
      <p:sp>
        <p:nvSpPr>
          <p:cNvPr id="4" name="Title"/>
          <p:cNvSpPr txBox="1"/>
          <p:nvPr/>
        </p:nvSpPr>
        <p:spPr>
          <a:xfrm>
            <a:off x="548640" y="886968"/>
            <a:ext cx="11094415" cy="868680"/>
          </a:xfrm>
          <a:prstGeom prst="rect">
            <a:avLst/>
          </a:prstGeom>
          <a:noFill/>
          <a:ln/>
        </p:spPr>
        <p:txBody>
          <a:bodyPr wrap="square" lIns="0" tIns="0" rIns="0" bIns="0" rtlCol="0" anchor="t">
            <a:normAutofit/>
          </a:bodyPr>
          <a:lstStyle/>
          <a:p>
            <a:pPr indent="0" marL="0">
              <a:buNone/>
            </a:pPr>
            <a:r>
              <a:rPr lang="en-US" sz="3600" b="1" dirty="0">
                <a:solidFill>
                  <a:srgbClr val="1D1D1F"/>
                </a:solidFill>
              </a:rPr>
              <a:t>Players help a little, fatigue does not</a:t>
            </a:r>
            <a:endParaRPr lang="en-US" sz="3600" dirty="0"/>
          </a:p>
        </p:txBody>
      </p:sp>
      <p:sp>
        <p:nvSpPr>
          <p:cNvPr id="5" name="Chart card"/>
          <p:cNvSpPr/>
          <p:nvPr/>
        </p:nvSpPr>
        <p:spPr>
          <a:xfrm>
            <a:off x="548640" y="1965960"/>
            <a:ext cx="7436815" cy="4206240"/>
          </a:xfrm>
          <a:prstGeom prst="roundRect">
            <a:avLst>
              <a:gd name="adj" fmla="val 3913"/>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graphicFrame>
        <p:nvGraphicFramePr>
          <p:cNvPr id="6" name="Chart" descr=""/>
          <p:cNvGraphicFramePr/>
          <p:nvPr/>
        </p:nvGraphicFramePr>
        <p:xfrm>
          <a:off x="731520" y="2103120"/>
          <a:ext cx="7071055" cy="3931920"/>
        </p:xfrm>
        <a:graphic xmlns:a="http://schemas.openxmlformats.org/drawingml/2006/main">
          <a:graphicData uri="http://schemas.openxmlformats.org/drawingml/2006/chart">
            <c:chart xmlns:c="http://schemas.openxmlformats.org/drawingml/2006/chart" r:id="rId1"/>
          </a:graphicData>
        </a:graphic>
      </p:graphicFrame>
      <p:sp>
        <p:nvSpPr>
          <p:cNvPr id="7" name="Body"/>
          <p:cNvSpPr txBox="1"/>
          <p:nvPr/>
        </p:nvSpPr>
        <p:spPr>
          <a:xfrm>
            <a:off x="8351215" y="2057400"/>
            <a:ext cx="3291840" cy="4023360"/>
          </a:xfrm>
          <a:prstGeom prst="rect">
            <a:avLst/>
          </a:prstGeom>
          <a:noFill/>
          <a:ln/>
        </p:spPr>
        <p:txBody>
          <a:bodyPr wrap="square" lIns="0" tIns="0" rIns="0" bIns="0" rtlCol="0" anchor="t"/>
          <a:lstStyle/>
          <a:p>
            <a:pPr indent="0" marL="0">
              <a:spcAft>
                <a:spcPts val="600"/>
              </a:spcAft>
              <a:buNone/>
            </a:pPr>
            <a:r>
              <a:rPr lang="en-US" sz="1600" dirty="0">
                <a:solidFill>
                  <a:srgbClr val="6E6E73"/>
                </a:solidFill>
              </a:rPr>
              <a:t>Test seasons 2018-19 to 2025-26 · RPS with players 0.1998 vs 0.2007 without</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686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Kicker"/>
          <p:cNvSpPr txBox="1"/>
          <p:nvPr/>
        </p:nvSpPr>
        <p:spPr>
          <a:xfrm>
            <a:off x="548640" y="502920"/>
            <a:ext cx="11094415" cy="365760"/>
          </a:xfrm>
          <a:prstGeom prst="rect">
            <a:avLst/>
          </a:prstGeom>
          <a:noFill/>
          <a:ln/>
        </p:spPr>
        <p:txBody>
          <a:bodyPr wrap="square" lIns="0" tIns="0" rIns="0" bIns="0" rtlCol="0" anchor="ctr"/>
          <a:lstStyle/>
          <a:p>
            <a:pPr indent="0" marL="0">
              <a:buNone/>
            </a:pPr>
            <a:r>
              <a:rPr lang="en-US" sz="1600" b="1" dirty="0">
                <a:solidFill>
                  <a:srgbClr val="0071E3"/>
                </a:solidFill>
              </a:rPr>
              <a:t>Version 1 → version 2</a:t>
            </a:r>
            <a:endParaRPr lang="en-US" sz="1600" dirty="0"/>
          </a:p>
        </p:txBody>
      </p:sp>
      <p:sp>
        <p:nvSpPr>
          <p:cNvPr id="4" name="Title"/>
          <p:cNvSpPr txBox="1"/>
          <p:nvPr/>
        </p:nvSpPr>
        <p:spPr>
          <a:xfrm>
            <a:off x="548640" y="886968"/>
            <a:ext cx="11094415" cy="868680"/>
          </a:xfrm>
          <a:prstGeom prst="rect">
            <a:avLst/>
          </a:prstGeom>
          <a:noFill/>
          <a:ln/>
        </p:spPr>
        <p:txBody>
          <a:bodyPr wrap="square" lIns="0" tIns="0" rIns="0" bIns="0" rtlCol="0" anchor="t">
            <a:normAutofit/>
          </a:bodyPr>
          <a:lstStyle/>
          <a:p>
            <a:pPr indent="0" marL="0">
              <a:buNone/>
            </a:pPr>
            <a:r>
              <a:rPr lang="en-US" sz="3600" b="1" dirty="0">
                <a:solidFill>
                  <a:srgbClr val="1D1D1F"/>
                </a:solidFill>
              </a:rPr>
              <a:t>What we improved</a:t>
            </a:r>
            <a:endParaRPr lang="en-US" sz="36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3698138"/>
                <a:gridCol w="3698138"/>
                <a:gridCol w="3698138"/>
              </a:tblGrid>
              <a:tr h="566928">
                <a:tc>
                  <a:txBody>
                    <a:bodyPr/>
                    <a:lstStyle/>
                    <a:p>
                      <a:pPr algn="l" indent="0" marL="0">
                        <a:buNone/>
                      </a:pP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EDEDF0"/>
                    </a:solidFill>
                  </a:tcPr>
                </a:tc>
                <a:tc>
                  <a:txBody>
                    <a:bodyPr/>
                    <a:lstStyle/>
                    <a:p>
                      <a:pPr algn="l" indent="0" marL="0">
                        <a:buNone/>
                      </a:pPr>
                      <a:r>
                        <a:rPr lang="en-US" sz="1600" b="1" dirty="0">
                          <a:solidFill>
                            <a:srgbClr val="6E6E73"/>
                          </a:solidFill>
                          <a:latin typeface="Arial" pitchFamily="34" charset="0"/>
                          <a:ea typeface="Arial" pitchFamily="34" charset="-122"/>
                          <a:cs typeface="Arial" pitchFamily="34" charset="-120"/>
                        </a:rPr>
                        <a:t>Version 1</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EDEDF0"/>
                    </a:solidFill>
                  </a:tcPr>
                </a:tc>
                <a:tc>
                  <a:txBody>
                    <a:bodyPr/>
                    <a:lstStyle/>
                    <a:p>
                      <a:pPr algn="l" indent="0" marL="0">
                        <a:buNone/>
                      </a:pPr>
                      <a:r>
                        <a:rPr lang="en-US" sz="1600" b="1" dirty="0">
                          <a:solidFill>
                            <a:srgbClr val="6E6E73"/>
                          </a:solidFill>
                          <a:latin typeface="Arial" pitchFamily="34" charset="0"/>
                          <a:ea typeface="Arial" pitchFamily="34" charset="-122"/>
                          <a:cs typeface="Arial" pitchFamily="34" charset="-120"/>
                        </a:rPr>
                        <a:t>Version 2</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EDEDF0"/>
                    </a:solidFill>
                  </a:tcPr>
                </a:tc>
              </a:tr>
              <a:tr h="566928">
                <a:tc>
                  <a:txBody>
                    <a:bodyPr/>
                    <a:lstStyle/>
                    <a:p>
                      <a:pPr algn="l" indent="0" marL="0">
                        <a:buNone/>
                      </a:pPr>
                      <a:r>
                        <a:rPr lang="en-US" sz="1600" b="1" dirty="0">
                          <a:solidFill>
                            <a:srgbClr val="1D1D1F"/>
                          </a:solidFill>
                          <a:latin typeface="Arial" pitchFamily="34" charset="0"/>
                          <a:ea typeface="Arial" pitchFamily="34" charset="-122"/>
                          <a:cs typeface="Arial" pitchFamily="34" charset="-120"/>
                        </a:rPr>
                        <a:t>Data</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D1D1F"/>
                          </a:solidFill>
                          <a:latin typeface="Arial" pitchFamily="34" charset="0"/>
                          <a:ea typeface="Arial" pitchFamily="34" charset="-122"/>
                          <a:cs typeface="Arial" pitchFamily="34" charset="-120"/>
                        </a:rPr>
                        <a:t>1 season (288 matches)</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A78D6"/>
                          </a:solidFill>
                          <a:latin typeface="Arial" pitchFamily="34" charset="0"/>
                          <a:ea typeface="Arial" pitchFamily="34" charset="-122"/>
                          <a:cs typeface="Arial" pitchFamily="34" charset="-120"/>
                        </a:rPr>
                        <a:t>26 seasons (9,880)</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r h="566928">
                <a:tc>
                  <a:txBody>
                    <a:bodyPr/>
                    <a:lstStyle/>
                    <a:p>
                      <a:pPr algn="l" indent="0" marL="0">
                        <a:buNone/>
                      </a:pPr>
                      <a:r>
                        <a:rPr lang="en-US" sz="1600" b="1" dirty="0">
                          <a:solidFill>
                            <a:srgbClr val="1D1D1F"/>
                          </a:solidFill>
                          <a:latin typeface="Arial" pitchFamily="34" charset="0"/>
                          <a:ea typeface="Arial" pitchFamily="34" charset="-122"/>
                          <a:cs typeface="Arial" pitchFamily="34" charset="-120"/>
                        </a:rPr>
                        <a:t>Extra data</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D1D1F"/>
                          </a:solidFill>
                          <a:latin typeface="Arial" pitchFamily="34" charset="0"/>
                          <a:ea typeface="Arial" pitchFamily="34" charset="-122"/>
                          <a:cs typeface="Arial" pitchFamily="34" charset="-120"/>
                        </a:rPr>
                        <a:t>~2,500 generated rows</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A78D6"/>
                          </a:solidFill>
                          <a:latin typeface="Arial" pitchFamily="34" charset="0"/>
                          <a:ea typeface="Arial" pitchFamily="34" charset="-122"/>
                          <a:cs typeface="Arial" pitchFamily="34" charset="-120"/>
                        </a:rPr>
                        <a:t>None: all real</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r h="566928">
                <a:tc>
                  <a:txBody>
                    <a:bodyPr/>
                    <a:lstStyle/>
                    <a:p>
                      <a:pPr algn="l" indent="0" marL="0">
                        <a:buNone/>
                      </a:pPr>
                      <a:r>
                        <a:rPr lang="en-US" sz="1600" b="1" dirty="0">
                          <a:solidFill>
                            <a:srgbClr val="1D1D1F"/>
                          </a:solidFill>
                          <a:latin typeface="Arial" pitchFamily="34" charset="0"/>
                          <a:ea typeface="Arial" pitchFamily="34" charset="-122"/>
                          <a:cs typeface="Arial" pitchFamily="34" charset="-120"/>
                        </a:rPr>
                        <a:t>Cheating (leakage)</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D1D1F"/>
                          </a:solidFill>
                          <a:latin typeface="Arial" pitchFamily="34" charset="0"/>
                          <a:ea typeface="Arial" pitchFamily="34" charset="-122"/>
                          <a:cs typeface="Arial" pitchFamily="34" charset="-120"/>
                        </a:rPr>
                        <a:t>Yes</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A78D6"/>
                          </a:solidFill>
                          <a:latin typeface="Arial" pitchFamily="34" charset="0"/>
                          <a:ea typeface="Arial" pitchFamily="34" charset="-122"/>
                          <a:cs typeface="Arial" pitchFamily="34" charset="-120"/>
                        </a:rPr>
                        <a:t>No, tested automatically</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r h="566928">
                <a:tc>
                  <a:txBody>
                    <a:bodyPr/>
                    <a:lstStyle/>
                    <a:p>
                      <a:pPr algn="l" indent="0" marL="0">
                        <a:buNone/>
                      </a:pPr>
                      <a:r>
                        <a:rPr lang="en-US" sz="1600" b="1" dirty="0">
                          <a:solidFill>
                            <a:srgbClr val="1D1D1F"/>
                          </a:solidFill>
                          <a:latin typeface="Arial" pitchFamily="34" charset="0"/>
                          <a:ea typeface="Arial" pitchFamily="34" charset="-122"/>
                          <a:cs typeface="Arial" pitchFamily="34" charset="-120"/>
                        </a:rPr>
                        <a:t>Test matches</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D1D1F"/>
                          </a:solidFill>
                          <a:latin typeface="Arial" pitchFamily="34" charset="0"/>
                          <a:ea typeface="Arial" pitchFamily="34" charset="-122"/>
                          <a:cs typeface="Arial" pitchFamily="34" charset="-120"/>
                        </a:rPr>
                        <a:t>38</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A78D6"/>
                          </a:solidFill>
                          <a:latin typeface="Arial" pitchFamily="34" charset="0"/>
                          <a:ea typeface="Arial" pitchFamily="34" charset="-122"/>
                          <a:cs typeface="Arial" pitchFamily="34" charset="-120"/>
                        </a:rPr>
                        <a:t>4,560</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r h="566928">
                <a:tc>
                  <a:txBody>
                    <a:bodyPr/>
                    <a:lstStyle/>
                    <a:p>
                      <a:pPr algn="l" indent="0" marL="0">
                        <a:buNone/>
                      </a:pPr>
                      <a:r>
                        <a:rPr lang="en-US" sz="1600" b="1" dirty="0">
                          <a:solidFill>
                            <a:srgbClr val="1D1D1F"/>
                          </a:solidFill>
                          <a:latin typeface="Arial" pitchFamily="34" charset="0"/>
                          <a:ea typeface="Arial" pitchFamily="34" charset="-122"/>
                          <a:cs typeface="Arial" pitchFamily="34" charset="-120"/>
                        </a:rPr>
                        <a:t>Accuracy on the test</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D1D1F"/>
                          </a:solidFill>
                          <a:latin typeface="Arial" pitchFamily="34" charset="0"/>
                          <a:ea typeface="Arial" pitchFamily="34" charset="-122"/>
                          <a:cs typeface="Arial" pitchFamily="34" charset="-120"/>
                        </a:rPr>
                        <a:t>47.5% (on 38)</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A78D6"/>
                          </a:solidFill>
                          <a:latin typeface="Arial" pitchFamily="34" charset="0"/>
                          <a:ea typeface="Arial" pitchFamily="34" charset="-122"/>
                          <a:cs typeface="Arial" pitchFamily="34" charset="-120"/>
                        </a:rPr>
                        <a:t>53.6% (on 4,560)</a:t>
                      </a:r>
                      <a:endParaRPr lang="en-US" sz="1600" dirty="0">
                        <a:latin typeface="Arial" charset="0"/>
                        <a:ea typeface="Arial" charset="0"/>
                        <a:cs typeface="Arial" charset="0"/>
                      </a:endParaRPr>
                    </a:p>
                  </a:txBody>
                  <a:tcPr marL="137160" marR="137160" marT="54864" marB="54864"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6868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Kicker"/>
          <p:cNvSpPr txBox="1"/>
          <p:nvPr/>
        </p:nvSpPr>
        <p:spPr>
          <a:xfrm>
            <a:off x="548640" y="502920"/>
            <a:ext cx="11094415" cy="365760"/>
          </a:xfrm>
          <a:prstGeom prst="rect">
            <a:avLst/>
          </a:prstGeom>
          <a:noFill/>
          <a:ln/>
        </p:spPr>
        <p:txBody>
          <a:bodyPr wrap="square" lIns="0" tIns="0" rIns="0" bIns="0" rtlCol="0" anchor="ctr"/>
          <a:lstStyle/>
          <a:p>
            <a:pPr indent="0" marL="0">
              <a:buNone/>
            </a:pPr>
            <a:r>
              <a:rPr lang="en-US" sz="1600" b="1" dirty="0">
                <a:solidFill>
                  <a:srgbClr val="0071E3"/>
                </a:solidFill>
              </a:rPr>
              <a:t>Limitations</a:t>
            </a:r>
            <a:endParaRPr lang="en-US" sz="1600" dirty="0"/>
          </a:p>
        </p:txBody>
      </p:sp>
      <p:sp>
        <p:nvSpPr>
          <p:cNvPr id="4" name="Title"/>
          <p:cNvSpPr txBox="1"/>
          <p:nvPr/>
        </p:nvSpPr>
        <p:spPr>
          <a:xfrm>
            <a:off x="548640" y="886968"/>
            <a:ext cx="11094415" cy="868680"/>
          </a:xfrm>
          <a:prstGeom prst="rect">
            <a:avLst/>
          </a:prstGeom>
          <a:noFill/>
          <a:ln/>
        </p:spPr>
        <p:txBody>
          <a:bodyPr wrap="square" lIns="0" tIns="0" rIns="0" bIns="0" rtlCol="0" anchor="t">
            <a:normAutofit/>
          </a:bodyPr>
          <a:lstStyle/>
          <a:p>
            <a:pPr indent="0" marL="0">
              <a:buNone/>
            </a:pPr>
            <a:r>
              <a:rPr lang="en-US" sz="3600" b="1" dirty="0">
                <a:solidFill>
                  <a:srgbClr val="1D1D1F"/>
                </a:solidFill>
              </a:rPr>
              <a:t>What could be better</a:t>
            </a:r>
            <a:endParaRPr lang="en-US" sz="3600" dirty="0"/>
          </a:p>
        </p:txBody>
      </p:sp>
      <p:sp>
        <p:nvSpPr>
          <p:cNvPr id="5" name="Card 1"/>
          <p:cNvSpPr/>
          <p:nvPr/>
        </p:nvSpPr>
        <p:spPr>
          <a:xfrm>
            <a:off x="548640" y="1965960"/>
            <a:ext cx="5410048" cy="1965960"/>
          </a:xfrm>
          <a:prstGeom prst="roundRect">
            <a:avLst>
              <a:gd name="adj" fmla="val 8372"/>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6" name="Card 1 dot"/>
          <p:cNvSpPr/>
          <p:nvPr/>
        </p:nvSpPr>
        <p:spPr>
          <a:xfrm>
            <a:off x="822960" y="2240280"/>
            <a:ext cx="384048" cy="384048"/>
          </a:xfrm>
          <a:prstGeom prst="ellipse">
            <a:avLst/>
          </a:prstGeom>
          <a:solidFill>
            <a:srgbClr val="0071E3"/>
          </a:solidFill>
          <a:ln w="12700">
            <a:solidFill>
              <a:srgbClr val="0071E3"/>
            </a:solidFill>
            <a:prstDash val="solid"/>
          </a:ln>
        </p:spPr>
      </p:sp>
      <p:sp>
        <p:nvSpPr>
          <p:cNvPr id="7" name="Text 4"/>
          <p:cNvSpPr txBox="1"/>
          <p:nvPr/>
        </p:nvSpPr>
        <p:spPr>
          <a:xfrm>
            <a:off x="822960" y="2240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5"/>
          <p:cNvSpPr txBox="1"/>
          <p:nvPr/>
        </p:nvSpPr>
        <p:spPr>
          <a:xfrm>
            <a:off x="1371600" y="2203704"/>
            <a:ext cx="4312768" cy="457200"/>
          </a:xfrm>
          <a:prstGeom prst="rect">
            <a:avLst/>
          </a:prstGeom>
          <a:noFill/>
          <a:ln/>
        </p:spPr>
        <p:txBody>
          <a:bodyPr wrap="square" lIns="0" tIns="0" rIns="0" bIns="0" rtlCol="0" anchor="ctr">
            <a:normAutofit/>
          </a:bodyPr>
          <a:lstStyle/>
          <a:p>
            <a:pPr indent="0" marL="0">
              <a:buNone/>
            </a:pPr>
            <a:r>
              <a:rPr lang="en-US" sz="1900" b="1" dirty="0">
                <a:solidFill>
                  <a:srgbClr val="1D1D1F"/>
                </a:solidFill>
              </a:rPr>
              <a:t>Team news</a:t>
            </a:r>
            <a:endParaRPr lang="en-US" sz="1900" dirty="0"/>
          </a:p>
        </p:txBody>
      </p:sp>
      <p:sp>
        <p:nvSpPr>
          <p:cNvPr id="9" name="Text 6"/>
          <p:cNvSpPr txBox="1"/>
          <p:nvPr/>
        </p:nvSpPr>
        <p:spPr>
          <a:xfrm>
            <a:off x="822960" y="2770632"/>
            <a:ext cx="4861408" cy="1005840"/>
          </a:xfrm>
          <a:prstGeom prst="rect">
            <a:avLst/>
          </a:prstGeom>
          <a:noFill/>
          <a:ln/>
        </p:spPr>
        <p:txBody>
          <a:bodyPr wrap="square" lIns="0" tIns="0" rIns="0" bIns="0" rtlCol="0" anchor="t"/>
          <a:lstStyle/>
          <a:p>
            <a:pPr indent="0" marL="0">
              <a:buNone/>
            </a:pPr>
            <a:r>
              <a:rPr lang="en-US" sz="1500" dirty="0">
                <a:solidFill>
                  <a:srgbClr val="6E6E73"/>
                </a:solidFill>
              </a:rPr>
              <a:t>Injuries and confirmed line-ups: the main reason bookmakers are better</a:t>
            </a:r>
            <a:endParaRPr lang="en-US" sz="1500" dirty="0"/>
          </a:p>
        </p:txBody>
      </p:sp>
      <p:sp>
        <p:nvSpPr>
          <p:cNvPr id="10" name="Card 2"/>
          <p:cNvSpPr/>
          <p:nvPr/>
        </p:nvSpPr>
        <p:spPr>
          <a:xfrm>
            <a:off x="6233008" y="1965960"/>
            <a:ext cx="5410048" cy="1965960"/>
          </a:xfrm>
          <a:prstGeom prst="roundRect">
            <a:avLst>
              <a:gd name="adj" fmla="val 8372"/>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11" name="Card 2 dot"/>
          <p:cNvSpPr/>
          <p:nvPr/>
        </p:nvSpPr>
        <p:spPr>
          <a:xfrm>
            <a:off x="6507328" y="2240280"/>
            <a:ext cx="384048" cy="384048"/>
          </a:xfrm>
          <a:prstGeom prst="ellipse">
            <a:avLst/>
          </a:prstGeom>
          <a:solidFill>
            <a:srgbClr val="0071E3"/>
          </a:solidFill>
          <a:ln w="12700">
            <a:solidFill>
              <a:srgbClr val="0071E3"/>
            </a:solidFill>
            <a:prstDash val="solid"/>
          </a:ln>
        </p:spPr>
      </p:sp>
      <p:sp>
        <p:nvSpPr>
          <p:cNvPr id="12" name="Text 9"/>
          <p:cNvSpPr txBox="1"/>
          <p:nvPr/>
        </p:nvSpPr>
        <p:spPr>
          <a:xfrm>
            <a:off x="6507328" y="2240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0"/>
          <p:cNvSpPr txBox="1"/>
          <p:nvPr/>
        </p:nvSpPr>
        <p:spPr>
          <a:xfrm>
            <a:off x="7055968" y="2203704"/>
            <a:ext cx="4312768" cy="457200"/>
          </a:xfrm>
          <a:prstGeom prst="rect">
            <a:avLst/>
          </a:prstGeom>
          <a:noFill/>
          <a:ln/>
        </p:spPr>
        <p:txBody>
          <a:bodyPr wrap="square" lIns="0" tIns="0" rIns="0" bIns="0" rtlCol="0" anchor="ctr">
            <a:normAutofit/>
          </a:bodyPr>
          <a:lstStyle/>
          <a:p>
            <a:pPr indent="0" marL="0">
              <a:buNone/>
            </a:pPr>
            <a:r>
              <a:rPr lang="en-US" sz="1900" b="1" dirty="0">
                <a:solidFill>
                  <a:srgbClr val="1D1D1F"/>
                </a:solidFill>
              </a:rPr>
              <a:t>Draws</a:t>
            </a:r>
            <a:endParaRPr lang="en-US" sz="1900" dirty="0"/>
          </a:p>
        </p:txBody>
      </p:sp>
      <p:sp>
        <p:nvSpPr>
          <p:cNvPr id="14" name="Text 11"/>
          <p:cNvSpPr txBox="1"/>
          <p:nvPr/>
        </p:nvSpPr>
        <p:spPr>
          <a:xfrm>
            <a:off x="6507328" y="2770632"/>
            <a:ext cx="4861408" cy="1005840"/>
          </a:xfrm>
          <a:prstGeom prst="rect">
            <a:avLst/>
          </a:prstGeom>
          <a:noFill/>
          <a:ln/>
        </p:spPr>
        <p:txBody>
          <a:bodyPr wrap="square" lIns="0" tIns="0" rIns="0" bIns="0" rtlCol="0" anchor="t"/>
          <a:lstStyle/>
          <a:p>
            <a:pPr indent="0" marL="0">
              <a:buNone/>
            </a:pPr>
            <a:r>
              <a:rPr lang="en-US" sz="1500" dirty="0">
                <a:solidFill>
                  <a:srgbClr val="6E6E73"/>
                </a:solidFill>
              </a:rPr>
              <a:t>Still almost impossible to pick</a:t>
            </a:r>
            <a:endParaRPr lang="en-US" sz="1500" dirty="0"/>
          </a:p>
        </p:txBody>
      </p:sp>
      <p:sp>
        <p:nvSpPr>
          <p:cNvPr id="15" name="Card 3"/>
          <p:cNvSpPr/>
          <p:nvPr/>
        </p:nvSpPr>
        <p:spPr>
          <a:xfrm>
            <a:off x="548640" y="4206240"/>
            <a:ext cx="5410048" cy="1965960"/>
          </a:xfrm>
          <a:prstGeom prst="roundRect">
            <a:avLst>
              <a:gd name="adj" fmla="val 8372"/>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16" name="Card 3 dot"/>
          <p:cNvSpPr/>
          <p:nvPr/>
        </p:nvSpPr>
        <p:spPr>
          <a:xfrm>
            <a:off x="822960" y="4480560"/>
            <a:ext cx="384048" cy="384048"/>
          </a:xfrm>
          <a:prstGeom prst="ellipse">
            <a:avLst/>
          </a:prstGeom>
          <a:solidFill>
            <a:srgbClr val="0071E3"/>
          </a:solidFill>
          <a:ln w="12700">
            <a:solidFill>
              <a:srgbClr val="0071E3"/>
            </a:solidFill>
            <a:prstDash val="solid"/>
          </a:ln>
        </p:spPr>
      </p:sp>
      <p:sp>
        <p:nvSpPr>
          <p:cNvPr id="17" name="Text 14"/>
          <p:cNvSpPr txBox="1"/>
          <p:nvPr/>
        </p:nvSpPr>
        <p:spPr>
          <a:xfrm>
            <a:off x="822960" y="4480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8" name="Text 15"/>
          <p:cNvSpPr txBox="1"/>
          <p:nvPr/>
        </p:nvSpPr>
        <p:spPr>
          <a:xfrm>
            <a:off x="1371600" y="4443984"/>
            <a:ext cx="4312768" cy="457200"/>
          </a:xfrm>
          <a:prstGeom prst="rect">
            <a:avLst/>
          </a:prstGeom>
          <a:noFill/>
          <a:ln/>
        </p:spPr>
        <p:txBody>
          <a:bodyPr wrap="square" lIns="0" tIns="0" rIns="0" bIns="0" rtlCol="0" anchor="ctr">
            <a:normAutofit/>
          </a:bodyPr>
          <a:lstStyle/>
          <a:p>
            <a:pPr indent="0" marL="0">
              <a:buNone/>
            </a:pPr>
            <a:r>
              <a:rPr lang="en-US" sz="1900" b="1" dirty="0">
                <a:solidFill>
                  <a:srgbClr val="1D1D1F"/>
                </a:solidFill>
              </a:rPr>
              <a:t>Missing data</a:t>
            </a:r>
            <a:endParaRPr lang="en-US" sz="1900" dirty="0"/>
          </a:p>
        </p:txBody>
      </p:sp>
      <p:sp>
        <p:nvSpPr>
          <p:cNvPr id="19" name="Text 16"/>
          <p:cNvSpPr txBox="1"/>
          <p:nvPr/>
        </p:nvSpPr>
        <p:spPr>
          <a:xfrm>
            <a:off x="822960" y="5010912"/>
            <a:ext cx="4861408" cy="1005840"/>
          </a:xfrm>
          <a:prstGeom prst="rect">
            <a:avLst/>
          </a:prstGeom>
          <a:noFill/>
          <a:ln/>
        </p:spPr>
        <p:txBody>
          <a:bodyPr wrap="square" lIns="0" tIns="0" rIns="0" bIns="0" rtlCol="0" anchor="t"/>
          <a:lstStyle/>
          <a:p>
            <a:pPr indent="0" marL="0">
              <a:buNone/>
            </a:pPr>
            <a:r>
              <a:rPr lang="en-US" sz="1500" dirty="0">
                <a:solidFill>
                  <a:srgbClr val="6E6E73"/>
                </a:solidFill>
              </a:rPr>
              <a:t>Europa League before 2020-21, managers not yet included</a:t>
            </a:r>
            <a:endParaRPr lang="en-US" sz="1500" dirty="0"/>
          </a:p>
        </p:txBody>
      </p:sp>
      <p:sp>
        <p:nvSpPr>
          <p:cNvPr id="20" name="Card 4"/>
          <p:cNvSpPr/>
          <p:nvPr/>
        </p:nvSpPr>
        <p:spPr>
          <a:xfrm>
            <a:off x="6233008" y="4206240"/>
            <a:ext cx="5410048" cy="1965960"/>
          </a:xfrm>
          <a:prstGeom prst="roundRect">
            <a:avLst>
              <a:gd name="adj" fmla="val 8372"/>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21" name="Card 4 dot"/>
          <p:cNvSpPr/>
          <p:nvPr/>
        </p:nvSpPr>
        <p:spPr>
          <a:xfrm>
            <a:off x="6507328" y="4480560"/>
            <a:ext cx="384048" cy="384048"/>
          </a:xfrm>
          <a:prstGeom prst="ellipse">
            <a:avLst/>
          </a:prstGeom>
          <a:solidFill>
            <a:srgbClr val="0071E3"/>
          </a:solidFill>
          <a:ln w="12700">
            <a:solidFill>
              <a:srgbClr val="0071E3"/>
            </a:solidFill>
            <a:prstDash val="solid"/>
          </a:ln>
        </p:spPr>
      </p:sp>
      <p:sp>
        <p:nvSpPr>
          <p:cNvPr id="22" name="Text 19"/>
          <p:cNvSpPr txBox="1"/>
          <p:nvPr/>
        </p:nvSpPr>
        <p:spPr>
          <a:xfrm>
            <a:off x="6507328" y="4480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3" name="Text 20"/>
          <p:cNvSpPr txBox="1"/>
          <p:nvPr/>
        </p:nvSpPr>
        <p:spPr>
          <a:xfrm>
            <a:off x="7055968" y="4443984"/>
            <a:ext cx="4312768" cy="457200"/>
          </a:xfrm>
          <a:prstGeom prst="rect">
            <a:avLst/>
          </a:prstGeom>
          <a:noFill/>
          <a:ln/>
        </p:spPr>
        <p:txBody>
          <a:bodyPr wrap="square" lIns="0" tIns="0" rIns="0" bIns="0" rtlCol="0" anchor="ctr">
            <a:normAutofit/>
          </a:bodyPr>
          <a:lstStyle/>
          <a:p>
            <a:pPr indent="0" marL="0">
              <a:buNone/>
            </a:pPr>
            <a:r>
              <a:rPr lang="en-US" sz="1900" b="1" dirty="0">
                <a:solidFill>
                  <a:srgbClr val="1D1D1F"/>
                </a:solidFill>
              </a:rPr>
              <a:t>Next steps</a:t>
            </a:r>
            <a:endParaRPr lang="en-US" sz="1900" dirty="0"/>
          </a:p>
        </p:txBody>
      </p:sp>
      <p:sp>
        <p:nvSpPr>
          <p:cNvPr id="24" name="Text 21"/>
          <p:cNvSpPr txBox="1"/>
          <p:nvPr/>
        </p:nvSpPr>
        <p:spPr>
          <a:xfrm>
            <a:off x="6507328" y="5010912"/>
            <a:ext cx="4861408" cy="1005840"/>
          </a:xfrm>
          <a:prstGeom prst="rect">
            <a:avLst/>
          </a:prstGeom>
          <a:noFill/>
          <a:ln/>
        </p:spPr>
        <p:txBody>
          <a:bodyPr wrap="square" lIns="0" tIns="0" rIns="0" bIns="0" rtlCol="0" anchor="t"/>
          <a:lstStyle/>
          <a:p>
            <a:pPr indent="0" marL="0">
              <a:buNone/>
            </a:pPr>
            <a:r>
              <a:rPr lang="en-US" sz="1500" dirty="0">
                <a:solidFill>
                  <a:srgbClr val="6E6E73"/>
                </a:solidFill>
              </a:rPr>
              <a:t>Expected goals (xG) data, simulating a whole season's table</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6868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Kicker"/>
          <p:cNvSpPr txBox="1"/>
          <p:nvPr/>
        </p:nvSpPr>
        <p:spPr>
          <a:xfrm>
            <a:off x="548640" y="822960"/>
            <a:ext cx="11094415" cy="365760"/>
          </a:xfrm>
          <a:prstGeom prst="rect">
            <a:avLst/>
          </a:prstGeom>
          <a:noFill/>
          <a:ln/>
        </p:spPr>
        <p:txBody>
          <a:bodyPr wrap="square" lIns="0" tIns="0" rIns="0" bIns="0" rtlCol="0" anchor="ctr"/>
          <a:lstStyle/>
          <a:p>
            <a:pPr indent="0" marL="0">
              <a:buNone/>
            </a:pPr>
            <a:r>
              <a:rPr lang="en-US" sz="1600" b="1" dirty="0">
                <a:solidFill>
                  <a:srgbClr val="2997FF"/>
                </a:solidFill>
              </a:rPr>
              <a:t>Conclusion</a:t>
            </a:r>
            <a:endParaRPr lang="en-US" sz="1600" dirty="0"/>
          </a:p>
        </p:txBody>
      </p:sp>
      <p:sp>
        <p:nvSpPr>
          <p:cNvPr id="4" name="Title"/>
          <p:cNvSpPr txBox="1"/>
          <p:nvPr/>
        </p:nvSpPr>
        <p:spPr>
          <a:xfrm>
            <a:off x="548640" y="1207008"/>
            <a:ext cx="11094415" cy="868680"/>
          </a:xfrm>
          <a:prstGeom prst="rect">
            <a:avLst/>
          </a:prstGeom>
          <a:noFill/>
          <a:ln/>
        </p:spPr>
        <p:txBody>
          <a:bodyPr wrap="square" lIns="0" tIns="0" rIns="0" bIns="0" rtlCol="0" anchor="t">
            <a:normAutofit/>
          </a:bodyPr>
          <a:lstStyle/>
          <a:p>
            <a:pPr indent="0" marL="0">
              <a:buNone/>
            </a:pPr>
            <a:r>
              <a:rPr lang="en-US" sz="3600" b="1" dirty="0">
                <a:solidFill>
                  <a:srgbClr val="FFFFFF"/>
                </a:solidFill>
              </a:rPr>
              <a:t>What we learned</a:t>
            </a:r>
            <a:endParaRPr lang="en-US" sz="3600" dirty="0"/>
          </a:p>
        </p:txBody>
      </p:sp>
      <p:sp>
        <p:nvSpPr>
          <p:cNvPr id="5" name="Number 1"/>
          <p:cNvSpPr/>
          <p:nvPr/>
        </p:nvSpPr>
        <p:spPr>
          <a:xfrm>
            <a:off x="548640" y="2377440"/>
            <a:ext cx="548640" cy="548640"/>
          </a:xfrm>
          <a:prstGeom prst="ellipse">
            <a:avLst/>
          </a:prstGeom>
          <a:solidFill>
            <a:srgbClr val="2997FF"/>
          </a:solidFill>
          <a:ln w="12700">
            <a:solidFill>
              <a:srgbClr val="2997FF"/>
            </a:solidFill>
            <a:prstDash val="solid"/>
          </a:ln>
        </p:spPr>
      </p:sp>
      <p:sp>
        <p:nvSpPr>
          <p:cNvPr id="6" name="Text 3"/>
          <p:cNvSpPr txBox="1"/>
          <p:nvPr/>
        </p:nvSpPr>
        <p:spPr>
          <a:xfrm>
            <a:off x="548640" y="2377440"/>
            <a:ext cx="548640" cy="548640"/>
          </a:xfrm>
          <a:prstGeom prst="rect">
            <a:avLst/>
          </a:prstGeom>
          <a:noFill/>
          <a:ln/>
        </p:spPr>
        <p:txBody>
          <a:bodyPr wrap="square" lIns="0" tIns="0" rIns="0" bIns="0" rtlCol="0" anchor="ctr"/>
          <a:lstStyle/>
          <a:p>
            <a:pPr algn="ctr" indent="0" marL="0">
              <a:buNone/>
            </a:pPr>
            <a:r>
              <a:rPr lang="en-US" sz="2000" b="1" dirty="0">
                <a:solidFill>
                  <a:srgbClr val="000000"/>
                </a:solidFill>
              </a:rPr>
              <a:t>1</a:t>
            </a:r>
            <a:endParaRPr lang="en-US" sz="2000" dirty="0"/>
          </a:p>
        </p:txBody>
      </p:sp>
      <p:sp>
        <p:nvSpPr>
          <p:cNvPr id="7" name="Takeaway 1"/>
          <p:cNvSpPr txBox="1"/>
          <p:nvPr/>
        </p:nvSpPr>
        <p:spPr>
          <a:xfrm>
            <a:off x="1371600" y="2331720"/>
            <a:ext cx="10271455" cy="640080"/>
          </a:xfrm>
          <a:prstGeom prst="rect">
            <a:avLst/>
          </a:prstGeom>
          <a:noFill/>
          <a:ln/>
        </p:spPr>
        <p:txBody>
          <a:bodyPr wrap="square" lIns="0" tIns="0" rIns="0" bIns="0" rtlCol="0" anchor="ctr"/>
          <a:lstStyle/>
          <a:p>
            <a:pPr indent="0" marL="0">
              <a:buNone/>
            </a:pPr>
            <a:r>
              <a:rPr lang="en-US" sz="2400" dirty="0">
                <a:solidFill>
                  <a:srgbClr val="FFFFFF"/>
                </a:solidFill>
              </a:rPr>
              <a:t>A fair model reaches 53.6%, close to the bookmaker's 54.7%</a:t>
            </a:r>
            <a:endParaRPr lang="en-US" sz="2400" dirty="0"/>
          </a:p>
        </p:txBody>
      </p:sp>
      <p:sp>
        <p:nvSpPr>
          <p:cNvPr id="8" name="Number 2"/>
          <p:cNvSpPr/>
          <p:nvPr/>
        </p:nvSpPr>
        <p:spPr>
          <a:xfrm>
            <a:off x="548640" y="3520440"/>
            <a:ext cx="548640" cy="548640"/>
          </a:xfrm>
          <a:prstGeom prst="ellipse">
            <a:avLst/>
          </a:prstGeom>
          <a:solidFill>
            <a:srgbClr val="2997FF"/>
          </a:solidFill>
          <a:ln w="12700">
            <a:solidFill>
              <a:srgbClr val="2997FF"/>
            </a:solidFill>
            <a:prstDash val="solid"/>
          </a:ln>
        </p:spPr>
      </p:sp>
      <p:sp>
        <p:nvSpPr>
          <p:cNvPr id="9" name="Text 6"/>
          <p:cNvSpPr txBox="1"/>
          <p:nvPr/>
        </p:nvSpPr>
        <p:spPr>
          <a:xfrm>
            <a:off x="548640" y="3520440"/>
            <a:ext cx="548640" cy="548640"/>
          </a:xfrm>
          <a:prstGeom prst="rect">
            <a:avLst/>
          </a:prstGeom>
          <a:noFill/>
          <a:ln/>
        </p:spPr>
        <p:txBody>
          <a:bodyPr wrap="square" lIns="0" tIns="0" rIns="0" bIns="0" rtlCol="0" anchor="ctr"/>
          <a:lstStyle/>
          <a:p>
            <a:pPr algn="ctr" indent="0" marL="0">
              <a:buNone/>
            </a:pPr>
            <a:r>
              <a:rPr lang="en-US" sz="2000" b="1" dirty="0">
                <a:solidFill>
                  <a:srgbClr val="000000"/>
                </a:solidFill>
              </a:rPr>
              <a:t>2</a:t>
            </a:r>
            <a:endParaRPr lang="en-US" sz="2000" dirty="0"/>
          </a:p>
        </p:txBody>
      </p:sp>
      <p:sp>
        <p:nvSpPr>
          <p:cNvPr id="10" name="Takeaway 2"/>
          <p:cNvSpPr txBox="1"/>
          <p:nvPr/>
        </p:nvSpPr>
        <p:spPr>
          <a:xfrm>
            <a:off x="1371600" y="3474720"/>
            <a:ext cx="10271455" cy="640080"/>
          </a:xfrm>
          <a:prstGeom prst="rect">
            <a:avLst/>
          </a:prstGeom>
          <a:noFill/>
          <a:ln/>
        </p:spPr>
        <p:txBody>
          <a:bodyPr wrap="square" lIns="0" tIns="0" rIns="0" bIns="0" rtlCol="0" anchor="ctr"/>
          <a:lstStyle/>
          <a:p>
            <a:pPr indent="0" marL="0">
              <a:buNone/>
            </a:pPr>
            <a:r>
              <a:rPr lang="en-US" sz="2400" dirty="0">
                <a:solidFill>
                  <a:srgbClr val="FFFFFF"/>
                </a:solidFill>
              </a:rPr>
              <a:t>Team strength (Elo) matters most; a simple Poisson model beat complex ones</a:t>
            </a:r>
            <a:endParaRPr lang="en-US" sz="2400" dirty="0"/>
          </a:p>
        </p:txBody>
      </p:sp>
      <p:sp>
        <p:nvSpPr>
          <p:cNvPr id="11" name="Number 3"/>
          <p:cNvSpPr/>
          <p:nvPr/>
        </p:nvSpPr>
        <p:spPr>
          <a:xfrm>
            <a:off x="548640" y="4663440"/>
            <a:ext cx="548640" cy="548640"/>
          </a:xfrm>
          <a:prstGeom prst="ellipse">
            <a:avLst/>
          </a:prstGeom>
          <a:solidFill>
            <a:srgbClr val="2997FF"/>
          </a:solidFill>
          <a:ln w="12700">
            <a:solidFill>
              <a:srgbClr val="2997FF"/>
            </a:solidFill>
            <a:prstDash val="solid"/>
          </a:ln>
        </p:spPr>
      </p:sp>
      <p:sp>
        <p:nvSpPr>
          <p:cNvPr id="12" name="Text 9"/>
          <p:cNvSpPr txBox="1"/>
          <p:nvPr/>
        </p:nvSpPr>
        <p:spPr>
          <a:xfrm>
            <a:off x="548640" y="4663440"/>
            <a:ext cx="548640" cy="548640"/>
          </a:xfrm>
          <a:prstGeom prst="rect">
            <a:avLst/>
          </a:prstGeom>
          <a:noFill/>
          <a:ln/>
        </p:spPr>
        <p:txBody>
          <a:bodyPr wrap="square" lIns="0" tIns="0" rIns="0" bIns="0" rtlCol="0" anchor="ctr"/>
          <a:lstStyle/>
          <a:p>
            <a:pPr algn="ctr" indent="0" marL="0">
              <a:buNone/>
            </a:pPr>
            <a:r>
              <a:rPr lang="en-US" sz="2000" b="1" dirty="0">
                <a:solidFill>
                  <a:srgbClr val="000000"/>
                </a:solidFill>
              </a:rPr>
              <a:t>3</a:t>
            </a:r>
            <a:endParaRPr lang="en-US" sz="2000" dirty="0"/>
          </a:p>
        </p:txBody>
      </p:sp>
      <p:sp>
        <p:nvSpPr>
          <p:cNvPr id="13" name="Takeaway 3"/>
          <p:cNvSpPr txBox="1"/>
          <p:nvPr/>
        </p:nvSpPr>
        <p:spPr>
          <a:xfrm>
            <a:off x="1371600" y="4617720"/>
            <a:ext cx="10271455" cy="640080"/>
          </a:xfrm>
          <a:prstGeom prst="rect">
            <a:avLst/>
          </a:prstGeom>
          <a:noFill/>
          <a:ln/>
        </p:spPr>
        <p:txBody>
          <a:bodyPr wrap="square" lIns="0" tIns="0" rIns="0" bIns="0" rtlCol="0" anchor="ctr"/>
          <a:lstStyle/>
          <a:p>
            <a:pPr indent="0" marL="0">
              <a:buNone/>
            </a:pPr>
            <a:r>
              <a:rPr lang="en-US" sz="2400" dirty="0">
                <a:solidFill>
                  <a:srgbClr val="FFFFFF"/>
                </a:solidFill>
              </a:rPr>
              <a:t>Testing properly matters more than a fancy model</a:t>
            </a:r>
            <a:endParaRPr lang="en-US" sz="2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1A1A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Kicker"/>
          <p:cNvSpPr txBox="1"/>
          <p:nvPr/>
        </p:nvSpPr>
        <p:spPr>
          <a:xfrm>
            <a:off x="548640" y="502920"/>
            <a:ext cx="11094415" cy="365760"/>
          </a:xfrm>
          <a:prstGeom prst="rect">
            <a:avLst/>
          </a:prstGeom>
          <a:noFill/>
          <a:ln/>
        </p:spPr>
        <p:txBody>
          <a:bodyPr wrap="square" lIns="0" tIns="0" rIns="0" bIns="0" rtlCol="0" anchor="ctr"/>
          <a:lstStyle/>
          <a:p>
            <a:pPr indent="0" marL="0">
              <a:buNone/>
            </a:pPr>
            <a:r>
              <a:rPr lang="en-US" sz="1600" b="1" dirty="0">
                <a:solidFill>
                  <a:srgbClr val="0071E3"/>
                </a:solidFill>
              </a:rPr>
              <a:t>Sources</a:t>
            </a:r>
            <a:endParaRPr lang="en-US" sz="1600" dirty="0"/>
          </a:p>
        </p:txBody>
      </p:sp>
      <p:sp>
        <p:nvSpPr>
          <p:cNvPr id="4" name="Title"/>
          <p:cNvSpPr txBox="1"/>
          <p:nvPr/>
        </p:nvSpPr>
        <p:spPr>
          <a:xfrm>
            <a:off x="548640" y="886968"/>
            <a:ext cx="11094415" cy="868680"/>
          </a:xfrm>
          <a:prstGeom prst="rect">
            <a:avLst/>
          </a:prstGeom>
          <a:noFill/>
          <a:ln/>
        </p:spPr>
        <p:txBody>
          <a:bodyPr wrap="square" lIns="0" tIns="0" rIns="0" bIns="0" rtlCol="0" anchor="t">
            <a:normAutofit/>
          </a:bodyPr>
          <a:lstStyle/>
          <a:p>
            <a:pPr indent="0" marL="0">
              <a:buNone/>
            </a:pPr>
            <a:r>
              <a:rPr lang="en-US" sz="3600" b="1" dirty="0">
                <a:solidFill>
                  <a:srgbClr val="1D1D1F"/>
                </a:solidFill>
              </a:rPr>
              <a:t>Data and references</a:t>
            </a:r>
            <a:endParaRPr lang="en-US" sz="3600" dirty="0"/>
          </a:p>
        </p:txBody>
      </p:sp>
      <p:sp>
        <p:nvSpPr>
          <p:cNvPr id="5" name="Sources card"/>
          <p:cNvSpPr/>
          <p:nvPr/>
        </p:nvSpPr>
        <p:spPr>
          <a:xfrm>
            <a:off x="548640" y="1965960"/>
            <a:ext cx="11094415" cy="4206240"/>
          </a:xfrm>
          <a:prstGeom prst="roundRect">
            <a:avLst>
              <a:gd name="adj" fmla="val 3913"/>
            </a:avLst>
          </a:prstGeom>
          <a:solidFill>
            <a:srgbClr val="FFFFFF"/>
          </a:solidFill>
          <a:ln w="12700">
            <a:solidFill>
              <a:srgbClr val="FFFFFF"/>
            </a:solidFill>
            <a:prstDash val="solid"/>
          </a:ln>
          <a:effectLst>
            <a:outerShdw sx="100000" sy="100000" kx="0" ky="0" algn="bl" rotWithShape="0" blurRad="101600" dist="25400" dir="5400000">
              <a:srgbClr val="000000">
                <a:alpha val="8000"/>
              </a:srgbClr>
            </a:outerShdw>
          </a:effectLst>
        </p:spPr>
      </p:sp>
      <p:sp>
        <p:nvSpPr>
          <p:cNvPr id="6" name="Body"/>
          <p:cNvSpPr txBox="1"/>
          <p:nvPr/>
        </p:nvSpPr>
        <p:spPr>
          <a:xfrm>
            <a:off x="868680" y="2286000"/>
            <a:ext cx="5090008" cy="365760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1D1D1F"/>
                </a:solidFill>
              </a:rPr>
              <a:t>Football-Data.co.uk via DataHub football-datasets (PDDL)</a:t>
            </a:r>
            <a:endParaRPr lang="en-US" sz="1500" dirty="0"/>
          </a:p>
          <a:p>
            <a:pPr marL="228600" indent="-228600">
              <a:spcAft>
                <a:spcPts val="600"/>
              </a:spcAft>
              <a:buSzPct val="100000"/>
              <a:buChar char="•"/>
            </a:pPr>
            <a:r>
              <a:rPr lang="en-US" sz="1500" dirty="0">
                <a:solidFill>
                  <a:srgbClr val="1D1D1F"/>
                </a:solidFill>
              </a:rPr>
              <a:t>Fantasy Premier League data, Vaastav Anand (MIT)</a:t>
            </a:r>
            <a:endParaRPr lang="en-US" sz="1500" dirty="0"/>
          </a:p>
          <a:p>
            <a:pPr marL="228600" indent="-228600">
              <a:spcAft>
                <a:spcPts val="600"/>
              </a:spcAft>
              <a:buSzPct val="100000"/>
              <a:buChar char="•"/>
            </a:pPr>
            <a:r>
              <a:rPr lang="en-US" sz="1500" dirty="0">
                <a:solidFill>
                  <a:srgbClr val="1D1D1F"/>
                </a:solidFill>
              </a:rPr>
              <a:t>engsoccerdata, James Curley (GPL-2+) · openfootball (CC0)</a:t>
            </a:r>
            <a:endParaRPr lang="en-US" sz="1500" dirty="0"/>
          </a:p>
          <a:p>
            <a:pPr marL="228600" indent="-228600">
              <a:spcAft>
                <a:spcPts val="600"/>
              </a:spcAft>
              <a:buSzPct val="100000"/>
              <a:buChar char="•"/>
            </a:pPr>
            <a:r>
              <a:rPr lang="en-US" sz="1500" dirty="0">
                <a:solidFill>
                  <a:srgbClr val="1D1D1F"/>
                </a:solidFill>
              </a:rPr>
              <a:t>International results, Mart Jürisoo (CC0)</a:t>
            </a:r>
            <a:endParaRPr lang="en-US" sz="1500" dirty="0"/>
          </a:p>
        </p:txBody>
      </p:sp>
      <p:sp>
        <p:nvSpPr>
          <p:cNvPr id="7" name="Body"/>
          <p:cNvSpPr txBox="1"/>
          <p:nvPr/>
        </p:nvSpPr>
        <p:spPr>
          <a:xfrm>
            <a:off x="6233008" y="2286000"/>
            <a:ext cx="5090008" cy="365760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1D1D1F"/>
                </a:solidFill>
              </a:rPr>
              <a:t>Bet365 odds via Club Football Match Data, Adam Gábor (MIT)</a:t>
            </a:r>
            <a:endParaRPr lang="en-US" sz="1500" dirty="0"/>
          </a:p>
          <a:p>
            <a:pPr marL="228600" indent="-228600">
              <a:spcAft>
                <a:spcPts val="600"/>
              </a:spcAft>
              <a:buSzPct val="100000"/>
              <a:buChar char="•"/>
            </a:pPr>
            <a:r>
              <a:rPr lang="en-US" sz="1500" dirty="0">
                <a:solidFill>
                  <a:srgbClr val="1D1D1F"/>
                </a:solidFill>
              </a:rPr>
              <a:t>Elo (1978) · Maher (1982) · Dixon &amp; Coles (1997)</a:t>
            </a:r>
            <a:endParaRPr lang="en-US" sz="1500" dirty="0"/>
          </a:p>
          <a:p>
            <a:pPr marL="228600" indent="-228600">
              <a:spcAft>
                <a:spcPts val="600"/>
              </a:spcAft>
              <a:buSzPct val="100000"/>
              <a:buChar char="•"/>
            </a:pPr>
            <a:r>
              <a:rPr lang="en-US" sz="1500" dirty="0">
                <a:solidFill>
                  <a:srgbClr val="1D1D1F"/>
                </a:solidFill>
              </a:rPr>
              <a:t>Hvattum &amp; Arntzen (2010) · Constantinou &amp; Fenton (2012)</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6868B"/>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we predict Premier League matches?</dc:title>
  <dc:subject>Data science project</dc:subject>
  <dc:creator>PptxGenJS</dc:creator>
  <cp:lastModifiedBy>PptxGenJS</cp:lastModifiedBy>
  <cp:revision>1</cp:revision>
  <dcterms:created xsi:type="dcterms:W3CDTF">2026-10-08T20:43:31Z</dcterms:created>
  <dcterms:modified xsi:type="dcterms:W3CDTF">2026-10-08T20:43:31Z</dcterms:modified>
</cp:coreProperties>
</file>